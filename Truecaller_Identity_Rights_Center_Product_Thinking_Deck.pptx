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5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B5CE0"/>
                </a:solidFill>
                <a:latin typeface="Inter"/>
              </a:defRPr>
            </a:pPr>
            <a:r>
              <a:t>TRUECALLER  •  PM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11318"/>
                </a:solidFill>
                <a:latin typeface="Inter"/>
              </a:defRPr>
            </a:pPr>
            <a:r>
              <a:t>Identity Rights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B5160"/>
                </a:solidFill>
                <a:latin typeface="Inter"/>
              </a:defRPr>
            </a:pPr>
            <a:r>
              <a:t>Designing privacy rights for people who never signed 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5CE0"/>
                </a:solidFill>
                <a:latin typeface="Inter"/>
              </a:defRPr>
            </a:pPr>
            <a:r>
              <a:t>PRODUCT THESIS</a:t>
            </a:r>
          </a:p>
          <a:p>
            <a:pPr>
              <a:spcBef>
                <a:spcPts val="600"/>
              </a:spcBef>
              <a:defRPr sz="1400" b="1">
                <a:solidFill>
                  <a:srgbClr val="111318"/>
                </a:solidFill>
                <a:latin typeface="Inter"/>
              </a:defRPr>
            </a:pPr>
            <a:r>
              <a:t>Establishing trust-centric data agency under India's DPDP Act 2023 to preserve caller ID coverage by giving non-users self-serve control over their listed identities.</a:t>
            </a:r>
          </a:p>
        </p:txBody>
      </p:sp>
      <p:pic>
        <p:nvPicPr>
          <p:cNvPr id="7" name="Picture 6" descr="screenshot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45920"/>
            <a:ext cx="41148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CE0"/>
                </a:solidFill>
                <a:latin typeface="Inter"/>
              </a:defRPr>
            </a:pPr>
            <a:r>
              <a:t>COMPLIANCE &amp;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318"/>
                </a:solidFill>
                <a:latin typeface="Inter"/>
              </a:defRPr>
            </a:pPr>
            <a:r>
              <a:t>The Consent Asymmetry: User vs. Data Principal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91440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1318"/>
                </a:solidFill>
                <a:latin typeface="Inter"/>
              </a:defRPr>
            </a:pPr>
            <a:r>
              <a:t>CORE INSIGHT: The active app user (consenter) and the data principal (subject) are different people. While crowdsourcing aggregates listings, the non-users are left without notices, transparency, or direct recourse.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5120640" cy="329184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B5CE0"/>
                </a:solidFill>
                <a:latin typeface="Inter"/>
              </a:defRPr>
            </a:pPr>
            <a:r>
              <a:t>ACTIVE USER SYNC (CONSENTER)</a:t>
            </a:r>
          </a:p>
          <a:p>
            <a:pPr>
              <a:spcBef>
                <a:spcPts val="1200"/>
              </a:spcBef>
              <a:defRPr sz="1300">
                <a:solidFill>
                  <a:srgbClr val="111318"/>
                </a:solidFill>
                <a:latin typeface="Inter"/>
              </a:defRPr>
            </a:pPr>
            <a:r>
              <a:t>• Uploads address books to unlock caller ID lookup.</a:t>
            </a:r>
          </a:p>
          <a:p>
            <a:pPr>
              <a:spcBef>
                <a:spcPts val="1200"/>
              </a:spcBef>
              <a:defRPr sz="1300">
                <a:solidFill>
                  <a:srgbClr val="111318"/>
                </a:solidFill>
                <a:latin typeface="Inter"/>
              </a:defRPr>
            </a:pPr>
            <a:r>
              <a:t>• Authorizes contact syncing through the active-user experience, while listed third parties may have no direct interaction with the product.</a:t>
            </a:r>
          </a:p>
          <a:p>
            <a:pPr>
              <a:spcBef>
                <a:spcPts val="1200"/>
              </a:spcBef>
              <a:defRPr sz="1300">
                <a:solidFill>
                  <a:srgbClr val="111318"/>
                </a:solidFill>
                <a:latin typeface="Inter"/>
              </a:defRPr>
            </a:pPr>
            <a:r>
              <a:t>• Shares third-party numbers, mapping names and spam flags silently.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743200"/>
            <a:ext cx="5212080" cy="329184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92608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33B3B"/>
                </a:solidFill>
                <a:latin typeface="Inter"/>
              </a:defRPr>
            </a:pPr>
            <a:r>
              <a:t>COMPLIANCE &amp; PRODUCT ASSUMPTIONS</a:t>
            </a:r>
          </a:p>
          <a:p>
            <a:pPr>
              <a:spcBef>
                <a:spcPts val="1200"/>
              </a:spcBef>
              <a:defRPr sz="1300">
                <a:solidFill>
                  <a:srgbClr val="111318"/>
                </a:solidFill>
                <a:latin typeface="Inter"/>
              </a:defRPr>
            </a:pPr>
            <a:r>
              <a:t>• Compliance design assumption: provide transparent pathways to understand listed data, correct inaccuracies, request erasure where applicable, and raise grievances.</a:t>
            </a:r>
          </a:p>
          <a:p>
            <a:pPr>
              <a:spcBef>
                <a:spcPts val="1200"/>
              </a:spcBef>
              <a:defRPr sz="1300">
                <a:solidFill>
                  <a:srgbClr val="111318"/>
                </a:solidFill>
                <a:latin typeface="Inter"/>
              </a:defRPr>
            </a:pPr>
            <a:r>
              <a:t>• Purpose Limitation: Crowdsourced contact listings should not bypass reasonable erasure requests by owners.</a:t>
            </a:r>
          </a:p>
          <a:p>
            <a:pPr>
              <a:spcBef>
                <a:spcPts val="1200"/>
              </a:spcBef>
              <a:defRPr sz="1300">
                <a:solidFill>
                  <a:srgbClr val="111318"/>
                </a:solidFill>
                <a:latin typeface="Inter"/>
              </a:defRPr>
            </a:pPr>
            <a:r>
              <a:t>• Strategic Trust Advantage: Proactively offering agency reduces regulatory and reputational exposure while strengthening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CE0"/>
                </a:solidFill>
                <a:latin typeface="Inter"/>
              </a:defRPr>
            </a:pPr>
            <a:r>
              <a:t>TARGET 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318"/>
                </a:solidFill>
                <a:latin typeface="Inter"/>
              </a:defRPr>
            </a:pPr>
            <a:r>
              <a:t>User Persona: Rekha, the Non-User Data Subject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43891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1318"/>
                </a:solidFill>
              </a:defRPr>
            </a:pPr>
            <a:r>
              <a:t>REKHA MENON, 42</a:t>
            </a:r>
          </a:p>
          <a:p>
            <a:pPr>
              <a:spcBef>
                <a:spcPts val="400"/>
              </a:spcBef>
              <a:defRPr sz="1200" b="1">
                <a:solidFill>
                  <a:srgbClr val="2B5CE0"/>
                </a:solidFill>
              </a:defRPr>
            </a:pPr>
            <a:r>
              <a:t>Operations Manager  •  Non-User</a:t>
            </a:r>
          </a:p>
          <a:p>
            <a:pPr>
              <a:spcBef>
                <a:spcPts val="1600"/>
              </a:spcBef>
              <a:defRPr sz="1250">
                <a:solidFill>
                  <a:srgbClr val="4B5160"/>
                </a:solidFill>
              </a:defRPr>
            </a:pPr>
            <a:r>
              <a:t>CONTEXT &amp; TRIGGER:</a:t>
            </a:r>
            <a:br/>
            <a:r>
              <a:t>A business contact tells Rekha that her calls are popping up as "Spam" or a misspelled name tag on their handset caller ID, directly impacting operational communications and her reputation.</a:t>
            </a:r>
          </a:p>
          <a:p>
            <a:pPr>
              <a:spcBef>
                <a:spcPts val="1600"/>
              </a:spcBef>
              <a:defRPr sz="1250" b="1">
                <a:solidFill>
                  <a:srgbClr val="111318"/>
                </a:solidFill>
              </a:defRPr>
            </a:pPr>
            <a:r>
              <a:t>JOBS TO BE DONE:</a:t>
            </a:r>
            <a:br/>
            <a:r>
              <a:t>"When my phone number is identified, I want to control the displayed details so that I can maintain my professional reputation and privacy."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645920"/>
            <a:ext cx="6309360" cy="43891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B5CE0"/>
                </a:solidFill>
              </a:defRPr>
            </a:pPr>
            <a:r>
              <a:t>TOP 3 CONCRETE PAIN POINTS</a:t>
            </a:r>
          </a:p>
          <a:p>
            <a:pPr>
              <a:spcBef>
                <a:spcPts val="1400"/>
              </a:spcBef>
              <a:defRPr sz="1350" b="1">
                <a:solidFill>
                  <a:srgbClr val="111318"/>
                </a:solidFill>
              </a:defRPr>
            </a:pPr>
            <a:r>
              <a:t>1. Zero Notice of Exposure</a:t>
            </a:r>
          </a:p>
          <a:p>
            <a:pPr>
              <a:spcBef>
                <a:spcPts val="200"/>
              </a:spcBef>
              <a:defRPr sz="1200">
                <a:solidFill>
                  <a:srgbClr val="4B5160"/>
                </a:solidFill>
              </a:defRPr>
            </a:pPr>
            <a:r>
              <a:t>No direct notifications are dispatched when crowdsourced contact lists list their details on search directories.</a:t>
            </a:r>
          </a:p>
          <a:p>
            <a:pPr>
              <a:spcBef>
                <a:spcPts val="1400"/>
              </a:spcBef>
              <a:defRPr sz="1350" b="1">
                <a:solidFill>
                  <a:srgbClr val="111318"/>
                </a:solidFill>
              </a:defRPr>
            </a:pPr>
            <a:r>
              <a:t>2. Hidden Recourse Pathways</a:t>
            </a:r>
          </a:p>
          <a:p>
            <a:pPr>
              <a:spcBef>
                <a:spcPts val="200"/>
              </a:spcBef>
              <a:defRPr sz="1200">
                <a:solidFill>
                  <a:srgbClr val="4B5160"/>
                </a:solidFill>
              </a:defRPr>
            </a:pPr>
            <a:r>
              <a:t>Opt-out links are historically buried, requiring manual grievance ticketing rather than self-serve panels.</a:t>
            </a:r>
          </a:p>
          <a:p>
            <a:pPr>
              <a:spcBef>
                <a:spcPts val="1400"/>
              </a:spcBef>
              <a:defRPr sz="1350" b="1">
                <a:solidFill>
                  <a:srgbClr val="111318"/>
                </a:solidFill>
              </a:defRPr>
            </a:pPr>
            <a:r>
              <a:t>3. Opaque Data Provenance</a:t>
            </a:r>
          </a:p>
          <a:p>
            <a:pPr>
              <a:spcBef>
                <a:spcPts val="200"/>
              </a:spcBef>
              <a:defRPr sz="1200">
                <a:solidFill>
                  <a:srgbClr val="4B5160"/>
                </a:solidFill>
              </a:defRPr>
            </a:pPr>
            <a:r>
              <a:t>Subjects cannot discover where directory data comes from or track how many syncs contribute to spam tags.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CE0"/>
                </a:solidFill>
                <a:latin typeface="Inter"/>
              </a:defRPr>
            </a:pPr>
            <a:r>
              <a:t>EXPERIENCE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318"/>
                </a:solidFill>
                <a:latin typeface="Inter"/>
              </a:defRPr>
            </a:pPr>
            <a:r>
              <a:t>The Current Journey: Friction &amp; Recourse Gaps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645920" cy="219456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1554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318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300" b="1">
                <a:solidFill>
                  <a:srgbClr val="111318"/>
                </a:solidFill>
              </a:defRPr>
            </a:pPr>
            <a:r>
              <a:t>Data Contributed</a:t>
            </a:r>
          </a:p>
          <a:p>
            <a:pPr>
              <a:spcBef>
                <a:spcPts val="800"/>
              </a:spcBef>
              <a:defRPr sz="1100">
                <a:solidFill>
                  <a:srgbClr val="4B5160"/>
                </a:solidFill>
              </a:defRPr>
            </a:pPr>
            <a:r>
              <a:t>Contacts synced silently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95728" y="2926080"/>
            <a:ext cx="146304" cy="365760"/>
          </a:xfrm>
          <a:prstGeom prst="rightArrow">
            <a:avLst/>
          </a:prstGeom>
          <a:solidFill>
            <a:srgbClr val="E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0" y="2011680"/>
            <a:ext cx="1645920" cy="219456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40" y="2103120"/>
            <a:ext cx="1554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318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300" b="1">
                <a:solidFill>
                  <a:srgbClr val="111318"/>
                </a:solidFill>
              </a:defRPr>
            </a:pPr>
            <a:r>
              <a:t>Identity Inferred</a:t>
            </a:r>
          </a:p>
          <a:p>
            <a:pPr>
              <a:spcBef>
                <a:spcPts val="800"/>
              </a:spcBef>
              <a:defRPr sz="1100">
                <a:solidFill>
                  <a:srgbClr val="4B5160"/>
                </a:solidFill>
              </a:defRPr>
            </a:pPr>
            <a:r>
              <a:t>Listing generated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24528" y="2926080"/>
            <a:ext cx="146304" cy="365760"/>
          </a:xfrm>
          <a:prstGeom prst="rightArrow">
            <a:avLst/>
          </a:prstGeom>
          <a:solidFill>
            <a:srgbClr val="E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2011680"/>
            <a:ext cx="1645920" cy="219456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103120"/>
            <a:ext cx="1554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318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300" b="1">
                <a:solidFill>
                  <a:srgbClr val="111318"/>
                </a:solidFill>
              </a:defRPr>
            </a:pPr>
            <a:r>
              <a:t>Caller ID Surfaced</a:t>
            </a:r>
          </a:p>
          <a:p>
            <a:pPr>
              <a:spcBef>
                <a:spcPts val="800"/>
              </a:spcBef>
              <a:defRPr sz="1100">
                <a:solidFill>
                  <a:srgbClr val="4B5160"/>
                </a:solidFill>
              </a:defRPr>
            </a:pPr>
            <a:r>
              <a:t>Strangers see tags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53328" y="2926080"/>
            <a:ext cx="146304" cy="365760"/>
          </a:xfrm>
          <a:prstGeom prst="rightArrow">
            <a:avLst/>
          </a:prstGeom>
          <a:solidFill>
            <a:srgbClr val="E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1645920" cy="2194560"/>
          </a:xfrm>
          <a:prstGeom prst="roundRect">
            <a:avLst/>
          </a:prstGeom>
          <a:solidFill>
            <a:srgbClr val="C57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103120"/>
            <a:ext cx="1554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Subject Discovers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Learns indirectly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82128" y="2926080"/>
            <a:ext cx="146304" cy="365760"/>
          </a:xfrm>
          <a:prstGeom prst="rightArrow">
            <a:avLst/>
          </a:prstGeom>
          <a:solidFill>
            <a:srgbClr val="E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2011680"/>
            <a:ext cx="1645920" cy="2194560"/>
          </a:xfrm>
          <a:prstGeom prst="roundRect">
            <a:avLst/>
          </a:prstGeom>
          <a:solidFill>
            <a:srgbClr val="D3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2103120"/>
            <a:ext cx="1554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Recourse Search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Buried opt-out screens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710928" y="2926080"/>
            <a:ext cx="146304" cy="365760"/>
          </a:xfrm>
          <a:prstGeom prst="rightArrow">
            <a:avLst/>
          </a:prstGeom>
          <a:solidFill>
            <a:srgbClr val="E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875520" y="2011680"/>
            <a:ext cx="1645920" cy="2194560"/>
          </a:xfrm>
          <a:prstGeom prst="roundRect">
            <a:avLst/>
          </a:prstGeom>
          <a:solidFill>
            <a:srgbClr val="D3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0" y="2103120"/>
            <a:ext cx="1554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Unclear Status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Anxious ticket delays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33B3B"/>
                </a:solidFill>
              </a:defRPr>
            </a:pPr>
            <a:r>
              <a:t>CRITICAL FRICTION POINTS:</a:t>
            </a:r>
            <a:r>
              <a:rPr b="0">
                <a:solidFill>
                  <a:srgbClr val="4B5160"/>
                </a:solidFill>
              </a:rPr>
              <a:t> Discovery happens via embarrassing third-party alerts. Seeking recourse is blocked by buried opt-out screens. Zero visibility on review updates creates user anxiety.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CE0"/>
                </a:solidFill>
                <a:latin typeface="Inter"/>
              </a:defRPr>
            </a:pPr>
            <a:r>
              <a:t>PROPOSED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318"/>
                </a:solidFill>
                <a:latin typeface="Inter"/>
              </a:defRPr>
            </a:pPr>
            <a:r>
              <a:t>Interactive Prototype Flow: Verify → Understand → Control →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609344"/>
            <a:ext cx="2542032" cy="425196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246888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010912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5CE0"/>
                </a:solidFill>
              </a:defRPr>
            </a:pPr>
            <a:r>
              <a:t>1. Verify</a:t>
            </a:r>
          </a:p>
          <a:p>
            <a:pPr algn="ctr">
              <a:defRPr sz="1100">
                <a:solidFill>
                  <a:srgbClr val="4B5160"/>
                </a:solidFill>
              </a:defRPr>
            </a:pPr>
            <a:r>
              <a:t>OTP Passcode Sheet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6704" y="1609344"/>
            <a:ext cx="2542032" cy="425196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_sour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645920"/>
            <a:ext cx="2468880" cy="3291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83280" y="5010912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5CE0"/>
                </a:solidFill>
              </a:defRPr>
            </a:pPr>
            <a:r>
              <a:t>2. Understand</a:t>
            </a:r>
          </a:p>
          <a:p>
            <a:pPr algn="ctr">
              <a:defRPr sz="1100">
                <a:solidFill>
                  <a:srgbClr val="4B5160"/>
                </a:solidFill>
              </a:defRPr>
            </a:pPr>
            <a:r>
              <a:t>Sources &amp; Sync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98464" y="1609344"/>
            <a:ext cx="2542032" cy="425196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shot_pro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645920"/>
            <a:ext cx="2468880" cy="3291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0" y="5010912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5CE0"/>
                </a:solidFill>
              </a:defRPr>
            </a:pPr>
            <a:r>
              <a:t>3. Control</a:t>
            </a:r>
          </a:p>
          <a:p>
            <a:pPr algn="ctr">
              <a:defRPr sz="1100">
                <a:solidFill>
                  <a:srgbClr val="4B5160"/>
                </a:solidFill>
              </a:defRPr>
            </a:pPr>
            <a:r>
              <a:t>Identity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50224" y="1609344"/>
            <a:ext cx="2542032" cy="425196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reenshot_sour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645920"/>
            <a:ext cx="2468880" cy="32918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0" y="5010912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5CE0"/>
                </a:solidFill>
              </a:defRPr>
            </a:pPr>
            <a:r>
              <a:t>4. Track</a:t>
            </a:r>
          </a:p>
          <a:p>
            <a:pPr algn="ctr">
              <a:defRPr sz="1100">
                <a:solidFill>
                  <a:srgbClr val="4B5160"/>
                </a:solidFill>
              </a:defRPr>
            </a:pPr>
            <a:r>
              <a:t>Request Status &amp; Timeline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CE0"/>
                </a:solidFill>
                <a:latin typeface="Inter"/>
              </a:defRPr>
            </a:pPr>
            <a:r>
              <a:t>PRODUCT 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318"/>
                </a:solidFill>
                <a:latin typeface="Inter"/>
              </a:defRPr>
            </a:pPr>
            <a:r>
              <a:t>Product Success Model: Agency &amp; Privacy Guardrails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09728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B5CE0"/>
                </a:solidFill>
                <a:latin typeface="Inter"/>
              </a:defRPr>
            </a:pPr>
            <a:r>
              <a:t>NORTH STAR METRIC: VERIFIED DATA AGENCY RATE</a:t>
            </a:r>
          </a:p>
          <a:p>
            <a:pPr>
              <a:spcBef>
                <a:spcPts val="400"/>
              </a:spcBef>
              <a:defRPr sz="1250" b="1">
                <a:solidFill>
                  <a:srgbClr val="111318"/>
                </a:solidFill>
              </a:defRPr>
            </a:pPr>
            <a:r>
              <a:t>Definition: % of verified portal visitors who successfully complete their intended rights action (Correction or Erasure).</a:t>
            </a:r>
            <a:br/>
            <a:r>
              <a:t>Formulated to measure successful self-serve agency execution rather than general directory stats.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3383280" cy="310896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B5CE0"/>
                </a:solidFill>
              </a:defRPr>
            </a:pPr>
            <a:r>
              <a:t>SUPPORTING OPERATIONAL METRICS</a:t>
            </a:r>
          </a:p>
          <a:p>
            <a:pPr>
              <a:spcBef>
                <a:spcPts val="800"/>
              </a:spcBef>
              <a:defRPr sz="1150">
                <a:solidFill>
                  <a:srgbClr val="111318"/>
                </a:solidFill>
              </a:defRPr>
            </a:pPr>
            <a:r>
              <a:t>• OTP Success Rate: Funnel onboarding check.</a:t>
            </a:r>
          </a:p>
          <a:p>
            <a:pPr>
              <a:spcBef>
                <a:spcPts val="800"/>
              </a:spcBef>
              <a:defRPr sz="1150">
                <a:solidFill>
                  <a:srgbClr val="111318"/>
                </a:solidFill>
              </a:defRPr>
            </a:pPr>
            <a:r>
              <a:t>• Rights Action Completion Rate: Actions submitted.</a:t>
            </a:r>
          </a:p>
          <a:p>
            <a:pPr>
              <a:spcBef>
                <a:spcPts val="800"/>
              </a:spcBef>
              <a:defRPr sz="1150">
                <a:solidFill>
                  <a:srgbClr val="111318"/>
                </a:solidFill>
              </a:defRPr>
            </a:pPr>
            <a:r>
              <a:t>• Median Resolution Time: Review queue wait.</a:t>
            </a:r>
          </a:p>
          <a:p>
            <a:pPr>
              <a:spcBef>
                <a:spcPts val="800"/>
              </a:spcBef>
              <a:defRPr sz="1150">
                <a:solidFill>
                  <a:srgbClr val="111318"/>
                </a:solidFill>
              </a:defRPr>
            </a:pPr>
            <a:r>
              <a:t>• Reopen / Repeat Contact Rate: Recurring complaints.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926080"/>
            <a:ext cx="3383280" cy="310896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301752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D33B3B"/>
                </a:solidFill>
              </a:defRPr>
            </a:pPr>
            <a:r>
              <a:t>PRIVACY GUARDRAILS</a:t>
            </a:r>
          </a:p>
          <a:p>
            <a:pPr>
              <a:spcBef>
                <a:spcPts val="800"/>
              </a:spcBef>
              <a:defRPr sz="1150">
                <a:solidFill>
                  <a:srgbClr val="111318"/>
                </a:solidFill>
              </a:defRPr>
            </a:pPr>
            <a:r>
              <a:t>• Spam Detection Precision: False positive spam rate change should stay &lt; 0.2% post-erasure.</a:t>
            </a:r>
          </a:p>
          <a:p>
            <a:pPr>
              <a:spcBef>
                <a:spcPts val="800"/>
              </a:spcBef>
              <a:defRPr sz="1150">
                <a:solidFill>
                  <a:srgbClr val="111318"/>
                </a:solidFill>
              </a:defRPr>
            </a:pPr>
            <a:r>
              <a:t>• Fraudulent Claim Rate: Unlisting claim disputes.</a:t>
            </a:r>
          </a:p>
          <a:p>
            <a:pPr>
              <a:spcBef>
                <a:spcPts val="800"/>
              </a:spcBef>
              <a:defRPr sz="1150">
                <a:solidFill>
                  <a:srgbClr val="111318"/>
                </a:solidFill>
              </a:defRPr>
            </a:pPr>
            <a:r>
              <a:t>• Contact Sync permission: Permission opt-in rate by active app uploaders.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926080"/>
            <a:ext cx="3383280" cy="310896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301752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F9D63"/>
                </a:solidFill>
              </a:defRPr>
            </a:pPr>
            <a:r>
              <a:t>ILLUSTRATIVE 90-DAY TARGETS</a:t>
            </a:r>
          </a:p>
          <a:p>
            <a:pPr>
              <a:spcBef>
                <a:spcPts val="500"/>
              </a:spcBef>
              <a:defRPr sz="1150">
                <a:solidFill>
                  <a:srgbClr val="111318"/>
                </a:solidFill>
              </a:defRPr>
            </a:pPr>
            <a:r>
              <a:t>• Verified Data Agency Rate &gt;75%</a:t>
            </a:r>
          </a:p>
          <a:p>
            <a:pPr>
              <a:spcBef>
                <a:spcPts val="500"/>
              </a:spcBef>
              <a:defRPr sz="1150">
                <a:solidFill>
                  <a:srgbClr val="111318"/>
                </a:solidFill>
              </a:defRPr>
            </a:pPr>
            <a:r>
              <a:t>• OTP Success Rate &gt;85%</a:t>
            </a:r>
          </a:p>
          <a:p>
            <a:pPr>
              <a:spcBef>
                <a:spcPts val="500"/>
              </a:spcBef>
              <a:defRPr sz="1150">
                <a:solidFill>
                  <a:srgbClr val="111318"/>
                </a:solidFill>
              </a:defRPr>
            </a:pPr>
            <a:r>
              <a:t>• Median Resolution Time &lt;3 business days</a:t>
            </a:r>
          </a:p>
          <a:p>
            <a:pPr>
              <a:spcBef>
                <a:spcPts val="500"/>
              </a:spcBef>
              <a:defRPr sz="1150">
                <a:solidFill>
                  <a:srgbClr val="111318"/>
                </a:solidFill>
              </a:defRPr>
            </a:pPr>
            <a:r>
              <a:t>• 95% of requests resolved within 5 business days</a:t>
            </a:r>
          </a:p>
          <a:p>
            <a:pPr>
              <a:spcBef>
                <a:spcPts val="500"/>
              </a:spcBef>
              <a:defRPr sz="1150">
                <a:solidFill>
                  <a:srgbClr val="111318"/>
                </a:solidFill>
              </a:defRPr>
            </a:pPr>
            <a:r>
              <a:t>• Portal CSAT &gt;85%</a:t>
            </a:r>
          </a:p>
          <a:p>
            <a:pPr>
              <a:spcBef>
                <a:spcPts val="500"/>
              </a:spcBef>
              <a:defRPr sz="1150">
                <a:solidFill>
                  <a:srgbClr val="111318"/>
                </a:solidFill>
              </a:defRPr>
            </a:pPr>
            <a:r>
              <a:t>• Note: Targets are illustrative targets based on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CE0"/>
                </a:solidFill>
                <a:latin typeface="Inter"/>
              </a:defRPr>
            </a:pPr>
            <a:r>
              <a:t>OPERATIONAL INCIDENT ISOLATION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318"/>
                </a:solidFill>
                <a:latin typeface="Inter"/>
              </a:defRPr>
            </a:pPr>
            <a:r>
              <a:t>Diagnostic Thinking: Isolating a 15% Verification Drop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00400" cy="914400"/>
          </a:xfrm>
          <a:prstGeom prst="roundRect">
            <a:avLst/>
          </a:prstGeom>
          <a:solidFill>
            <a:srgbClr val="D3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ROOT ISSUE</a:t>
            </a:r>
            <a:br/>
            <a:r>
              <a:t>Verification Rate ↓15%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00400" cy="91440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6916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B5CE0"/>
                </a:solidFill>
              </a:defRPr>
            </a:pPr>
            <a:r>
              <a:t>A. Traffic mix</a:t>
            </a:r>
          </a:p>
          <a:p>
            <a:pPr>
              <a:spcBef>
                <a:spcPts val="200"/>
              </a:spcBef>
              <a:defRPr sz="1100">
                <a:solidFill>
                  <a:srgbClr val="4B5160"/>
                </a:solidFill>
              </a:defRPr>
            </a:pPr>
            <a:r>
              <a:t>Shift in ad referrals vs organic checks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23360" y="1965960"/>
            <a:ext cx="274320" cy="182880"/>
          </a:xfrm>
          <a:prstGeom prst="rightArrow">
            <a:avLst/>
          </a:prstGeom>
          <a:solidFill>
            <a:srgbClr val="E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2743200"/>
            <a:ext cx="3200400" cy="91440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7889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B5CE0"/>
                </a:solidFill>
              </a:defRPr>
            </a:pPr>
            <a:r>
              <a:t>B. Phone entry UX</a:t>
            </a:r>
          </a:p>
          <a:p>
            <a:pPr>
              <a:spcBef>
                <a:spcPts val="200"/>
              </a:spcBef>
              <a:defRPr sz="1100">
                <a:solidFill>
                  <a:srgbClr val="4B5160"/>
                </a:solidFill>
              </a:defRPr>
            </a:pPr>
            <a:r>
              <a:t>Browser keypress blocks / formatting bugs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23360" y="3063240"/>
            <a:ext cx="274320" cy="182880"/>
          </a:xfrm>
          <a:prstGeom prst="rightArrow">
            <a:avLst/>
          </a:prstGeom>
          <a:solidFill>
            <a:srgbClr val="E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3840480"/>
            <a:ext cx="3200400" cy="91440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38862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B5CE0"/>
                </a:solidFill>
              </a:defRPr>
            </a:pPr>
            <a:r>
              <a:t>C. OTP Delivery</a:t>
            </a:r>
          </a:p>
          <a:p>
            <a:pPr>
              <a:spcBef>
                <a:spcPts val="200"/>
              </a:spcBef>
              <a:defRPr sz="1100">
                <a:solidFill>
                  <a:srgbClr val="4B5160"/>
                </a:solidFill>
              </a:defRPr>
            </a:pPr>
            <a:r>
              <a:t>Carrier SMS routing delays / timeouts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23360" y="4160520"/>
            <a:ext cx="274320" cy="182880"/>
          </a:xfrm>
          <a:prstGeom prst="rightArrow">
            <a:avLst/>
          </a:prstGeom>
          <a:solidFill>
            <a:srgbClr val="E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4937760"/>
            <a:ext cx="3200400" cy="91440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49834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B5CE0"/>
                </a:solidFill>
              </a:defRPr>
            </a:pPr>
            <a:r>
              <a:t>D. OTP Validation</a:t>
            </a:r>
          </a:p>
          <a:p>
            <a:pPr>
              <a:spcBef>
                <a:spcPts val="200"/>
              </a:spcBef>
              <a:defRPr sz="1100">
                <a:solidFill>
                  <a:srgbClr val="4B5160"/>
                </a:solidFill>
              </a:defRPr>
            </a:pPr>
            <a:r>
              <a:t>Digit auto-advance focus regressions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23360" y="5257800"/>
            <a:ext cx="274320" cy="182880"/>
          </a:xfrm>
          <a:prstGeom prst="rightArrow">
            <a:avLst/>
          </a:prstGeom>
          <a:solidFill>
            <a:srgbClr val="E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1645920"/>
            <a:ext cx="3383280" cy="420624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73736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F9D63"/>
                </a:solidFill>
              </a:defRPr>
            </a:pPr>
            <a:r>
              <a:t>INVESTIGATION PROTOCOL</a:t>
            </a:r>
          </a:p>
          <a:p>
            <a:pPr>
              <a:spcBef>
                <a:spcPts val="800"/>
              </a:spcBef>
              <a:defRPr sz="1200">
                <a:solidFill>
                  <a:srgbClr val="111318"/>
                </a:solidFill>
              </a:defRPr>
            </a:pPr>
            <a:r>
              <a:t>1. Validate telemetry data integrity.</a:t>
            </a:r>
          </a:p>
          <a:p>
            <a:pPr>
              <a:spcBef>
                <a:spcPts val="800"/>
              </a:spcBef>
              <a:defRPr sz="1200">
                <a:solidFill>
                  <a:srgbClr val="111318"/>
                </a:solidFill>
              </a:defRPr>
            </a:pPr>
            <a:r>
              <a:t>2. Segment rates by carrier &amp; browser.</a:t>
            </a:r>
          </a:p>
          <a:p>
            <a:pPr>
              <a:spcBef>
                <a:spcPts val="800"/>
              </a:spcBef>
              <a:defRPr sz="1200">
                <a:solidFill>
                  <a:srgbClr val="111318"/>
                </a:solidFill>
              </a:defRPr>
            </a:pPr>
            <a:r>
              <a:t>3. Isolate exact step drop-off ratios.</a:t>
            </a:r>
          </a:p>
          <a:p>
            <a:pPr>
              <a:spcBef>
                <a:spcPts val="800"/>
              </a:spcBef>
              <a:defRPr sz="1200">
                <a:solidFill>
                  <a:srgbClr val="111318"/>
                </a:solidFill>
              </a:defRPr>
            </a:pPr>
            <a:r>
              <a:t>4. Check operational logs &amp; SMS latency.</a:t>
            </a:r>
          </a:p>
          <a:p>
            <a:pPr>
              <a:spcBef>
                <a:spcPts val="800"/>
              </a:spcBef>
              <a:defRPr sz="1200">
                <a:solidFill>
                  <a:srgbClr val="111318"/>
                </a:solidFill>
              </a:defRPr>
            </a:pPr>
            <a:r>
              <a:t>5. Apply mitigations (SMS provider hotfix).</a:t>
            </a:r>
          </a:p>
          <a:p>
            <a:pPr>
              <a:spcBef>
                <a:spcPts val="800"/>
              </a:spcBef>
              <a:defRPr sz="1200">
                <a:solidFill>
                  <a:srgbClr val="111318"/>
                </a:solidFill>
              </a:defRPr>
            </a:pPr>
            <a:r>
              <a:t>6. Monitor dashboard recovery metrics.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CE0"/>
                </a:solidFill>
                <a:latin typeface="Inter"/>
              </a:defRPr>
            </a:pPr>
            <a:r>
              <a:t>PORTAL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318"/>
                </a:solidFill>
                <a:latin typeface="Inter"/>
              </a:defRPr>
            </a:pPr>
            <a:r>
              <a:t>PM Analytics Dashboard Mock (Illustrative Data)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14600" cy="105156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B5160"/>
                </a:solidFill>
              </a:defRPr>
            </a:pPr>
            <a:r>
              <a:t>Verified Agency Rate</a:t>
            </a:r>
          </a:p>
          <a:p>
            <a:pPr algn="ctr">
              <a:spcBef>
                <a:spcPts val="400"/>
              </a:spcBef>
              <a:defRPr sz="2200" b="1">
                <a:solidFill>
                  <a:srgbClr val="2B5CE0"/>
                </a:solidFill>
              </a:defRPr>
            </a:pPr>
            <a:r>
              <a:t>78.4%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371600"/>
            <a:ext cx="2514600" cy="105156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46304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B5160"/>
                </a:solidFill>
              </a:defRPr>
            </a:pPr>
            <a:r>
              <a:t>OTP Success Rate</a:t>
            </a:r>
          </a:p>
          <a:p>
            <a:pPr algn="ctr">
              <a:spcBef>
                <a:spcPts val="400"/>
              </a:spcBef>
              <a:defRPr sz="2200" b="1">
                <a:solidFill>
                  <a:srgbClr val="1F9D63"/>
                </a:solidFill>
              </a:defRPr>
            </a:pPr>
            <a:r>
              <a:t>87.1%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2514600" cy="105156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46304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B5160"/>
                </a:solidFill>
              </a:defRPr>
            </a:pPr>
            <a:r>
              <a:t>Median SLA</a:t>
            </a:r>
          </a:p>
          <a:p>
            <a:pPr algn="ctr">
              <a:spcBef>
                <a:spcPts val="400"/>
              </a:spcBef>
              <a:defRPr sz="2200" b="1">
                <a:solidFill>
                  <a:srgbClr val="C57A11"/>
                </a:solidFill>
              </a:defRPr>
            </a:pPr>
            <a:r>
              <a:t>3.2 Days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371600"/>
            <a:ext cx="2514600" cy="105156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46304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B5160"/>
                </a:solidFill>
              </a:defRPr>
            </a:pPr>
            <a:r>
              <a:t>CSAT Score</a:t>
            </a:r>
          </a:p>
          <a:p>
            <a:pPr algn="ctr">
              <a:spcBef>
                <a:spcPts val="400"/>
              </a:spcBef>
              <a:defRPr sz="2200" b="1">
                <a:solidFill>
                  <a:srgbClr val="1F9D63"/>
                </a:solidFill>
              </a:defRPr>
            </a:pPr>
            <a:r>
              <a:t>86.4%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60320"/>
            <a:ext cx="10698480" cy="5029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060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11318"/>
                </a:solidFill>
              </a:defRPr>
            </a:pPr>
            <a:r>
              <a:t>Filters:  </a:t>
            </a:r>
            <a:r>
              <a:rPr b="0">
                <a:solidFill>
                  <a:srgbClr val="2B5CE0"/>
                </a:solidFill>
              </a:rPr>
              <a:t>[Date Range: Last 30 Days]   </a:t>
            </a:r>
            <a:r>
              <a:rPr b="0">
                <a:solidFill>
                  <a:srgbClr val="2B5CE0"/>
                </a:solidFill>
              </a:rPr>
              <a:t>[Region: All States]   </a:t>
            </a:r>
            <a:r>
              <a:rPr b="0">
                <a:solidFill>
                  <a:srgbClr val="2B5CE0"/>
                </a:solidFill>
              </a:rPr>
              <a:t>[Device: Mobile/Web]   </a:t>
            </a:r>
            <a:r>
              <a:rPr b="0">
                <a:solidFill>
                  <a:srgbClr val="2B5CE0"/>
                </a:solidFill>
              </a:rPr>
              <a:t>[Request Type: All]  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00400"/>
            <a:ext cx="5303520" cy="30175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91840"/>
            <a:ext cx="51206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B5CE0"/>
                </a:solidFill>
              </a:defRPr>
            </a:pPr>
            <a:r>
              <a:t>VERIFIED DATA AGENCY RATE (8-WEEK TREND)</a:t>
            </a:r>
          </a:p>
          <a:p>
            <a:pPr>
              <a:spcBef>
                <a:spcPts val="14000"/>
              </a:spcBef>
              <a:defRPr sz="1100">
                <a:solidFill>
                  <a:srgbClr val="111318"/>
                </a:solidFill>
              </a:defRPr>
            </a:pPr>
            <a:r>
              <a:t>W1: 52%  •  W2: 58%  •  W3: 63%  •  W4: 67%  •  W5: 71%  •  W6: 74%  •  W7: 76%  •  W8: 78.4%</a:t>
            </a:r>
          </a:p>
        </p:txBody>
      </p:sp>
      <p:sp>
        <p:nvSpPr>
          <p:cNvPr id="16" name="Oval 15"/>
          <p:cNvSpPr/>
          <p:nvPr/>
        </p:nvSpPr>
        <p:spPr>
          <a:xfrm>
            <a:off x="1920240" y="8686800"/>
            <a:ext cx="109728" cy="109728"/>
          </a:xfrm>
          <a:prstGeom prst="ellipse">
            <a:avLst/>
          </a:prstGeom>
          <a:solidFill>
            <a:srgbClr val="2B5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68880" y="8503920"/>
            <a:ext cx="109728" cy="109728"/>
          </a:xfrm>
          <a:prstGeom prst="ellipse">
            <a:avLst/>
          </a:prstGeom>
          <a:solidFill>
            <a:srgbClr val="2B5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17520" y="8229600"/>
            <a:ext cx="109728" cy="109728"/>
          </a:xfrm>
          <a:prstGeom prst="ellipse">
            <a:avLst/>
          </a:prstGeom>
          <a:solidFill>
            <a:srgbClr val="2B5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66160" y="8046720"/>
            <a:ext cx="109728" cy="109728"/>
          </a:xfrm>
          <a:prstGeom prst="ellipse">
            <a:avLst/>
          </a:prstGeom>
          <a:solidFill>
            <a:srgbClr val="2B5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14800" y="7772400"/>
            <a:ext cx="109728" cy="109728"/>
          </a:xfrm>
          <a:prstGeom prst="ellipse">
            <a:avLst/>
          </a:prstGeom>
          <a:solidFill>
            <a:srgbClr val="2B5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63440" y="7589520"/>
            <a:ext cx="109728" cy="109728"/>
          </a:xfrm>
          <a:prstGeom prst="ellipse">
            <a:avLst/>
          </a:prstGeom>
          <a:solidFill>
            <a:srgbClr val="2B5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12080" y="7406640"/>
            <a:ext cx="109728" cy="109728"/>
          </a:xfrm>
          <a:prstGeom prst="ellipse">
            <a:avLst/>
          </a:prstGeom>
          <a:solidFill>
            <a:srgbClr val="2B5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60720" y="7223760"/>
            <a:ext cx="109728" cy="109728"/>
          </a:xfrm>
          <a:prstGeom prst="ellipse">
            <a:avLst/>
          </a:prstGeom>
          <a:solidFill>
            <a:srgbClr val="2B5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17920" y="3200400"/>
            <a:ext cx="5212080" cy="30175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291840"/>
            <a:ext cx="4846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B5CE0"/>
                </a:solidFill>
              </a:defRPr>
            </a:pPr>
            <a:r>
              <a:t>CONVERSION FUNNEL &amp; REQUEST SPLIT</a:t>
            </a:r>
          </a:p>
          <a:p>
            <a:pPr>
              <a:spcBef>
                <a:spcPts val="14000"/>
              </a:spcBef>
              <a:defRPr b="1" sz="1200">
                <a:solidFill>
                  <a:srgbClr val="111318"/>
                </a:solidFill>
              </a:defRPr>
            </a:pPr>
            <a:r>
              <a:t>Request Category Split: Name Corrections = 68% | Erasure Requests = 32%</a:t>
            </a:r>
          </a:p>
          <a:p>
            <a:pPr>
              <a:spcBef>
                <a:spcPts val="400"/>
              </a:spcBef>
              <a:defRPr i="1" sz="1000">
                <a:solidFill>
                  <a:srgbClr val="4B5160"/>
                </a:solidFill>
              </a:defRPr>
            </a:pPr>
            <a:r>
              <a:t>* All figures are mock metrics presented for illustrative dashboard planning.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566160"/>
            <a:ext cx="411480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0" y="3566160"/>
            <a:ext cx="3840480" cy="292608"/>
          </a:xfrm>
          <a:prstGeom prst="roundRect">
            <a:avLst/>
          </a:prstGeom>
          <a:solidFill>
            <a:srgbClr val="1E4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14432" y="3520440"/>
            <a:ext cx="182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11318"/>
                </a:solidFill>
              </a:defRPr>
            </a:pPr>
            <a:r>
              <a:t>Portal Visits (100%)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950208"/>
            <a:ext cx="411480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0" y="3950208"/>
            <a:ext cx="3017520" cy="292608"/>
          </a:xfrm>
          <a:prstGeom prst="roundRect">
            <a:avLst/>
          </a:prstGeom>
          <a:solidFill>
            <a:srgbClr val="2B5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91472" y="39044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11318"/>
                </a:solidFill>
              </a:defRPr>
            </a:pPr>
            <a:r>
              <a:t>Phone Entered (78.4%)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334256"/>
            <a:ext cx="411480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0" y="4334256"/>
            <a:ext cx="2377440" cy="292608"/>
          </a:xfrm>
          <a:prstGeom prst="roundRect">
            <a:avLst/>
          </a:prstGeom>
          <a:solidFill>
            <a:srgbClr val="1F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51392" y="4288536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11318"/>
                </a:solidFill>
              </a:defRPr>
            </a:pPr>
            <a:r>
              <a:t>OTP Verified (62.1%)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718304"/>
            <a:ext cx="411480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00800" y="4718304"/>
            <a:ext cx="1828800" cy="292608"/>
          </a:xfrm>
          <a:prstGeom prst="roundRect">
            <a:avLst/>
          </a:prstGeom>
          <a:solidFill>
            <a:srgbClr val="C57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02752" y="4672584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11318"/>
                </a:solidFill>
              </a:defRPr>
            </a:pPr>
            <a:r>
              <a:t>Action Completed (48.7%)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CE0"/>
                </a:solidFill>
                <a:latin typeface="Inter"/>
              </a:defRPr>
            </a:pPr>
            <a:r>
              <a:t>EXECUTION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318"/>
                </a:solidFill>
                <a:latin typeface="Inter"/>
              </a:defRPr>
            </a:pPr>
            <a:r>
              <a:t>Phased Rollout Timeline &amp; UX Experimentation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633472" cy="34747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63347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B5CE0"/>
                </a:solidFill>
              </a:defRPr>
            </a:pPr>
            <a:r>
              <a:t>1. DOGFOOD</a:t>
            </a:r>
          </a:p>
          <a:p>
            <a:pPr>
              <a:spcBef>
                <a:spcPts val="800"/>
              </a:spcBef>
              <a:defRPr sz="1150">
                <a:solidFill>
                  <a:srgbClr val="111318"/>
                </a:solidFill>
              </a:defRPr>
            </a:pPr>
            <a:r>
              <a:t>Employees &amp; internal alpha testing</a:t>
            </a:r>
          </a:p>
          <a:p>
            <a:pPr>
              <a:spcBef>
                <a:spcPts val="1200"/>
              </a:spcBef>
              <a:defRPr b="1" sz="1100">
                <a:solidFill>
                  <a:srgbClr val="1F9D63"/>
                </a:solidFill>
              </a:defRPr>
            </a:pPr>
            <a:r>
              <a:t>Key Metric: OTP Validation success</a:t>
            </a:r>
          </a:p>
          <a:p>
            <a:pPr>
              <a:spcBef>
                <a:spcPts val="800"/>
              </a:spcBef>
              <a:defRPr b="1" sz="1100">
                <a:solidFill>
                  <a:srgbClr val="D33B3B"/>
                </a:solidFill>
              </a:defRPr>
            </a:pPr>
            <a:r>
              <a:t>Rollback: Halt on critical journey failure rate &gt;1%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633472" cy="34747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737360"/>
            <a:ext cx="263347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B5CE0"/>
                </a:solidFill>
              </a:defRPr>
            </a:pPr>
            <a:r>
              <a:t>2. PILOT</a:t>
            </a:r>
          </a:p>
          <a:p>
            <a:pPr>
              <a:spcBef>
                <a:spcPts val="800"/>
              </a:spcBef>
              <a:defRPr sz="1150">
                <a:solidFill>
                  <a:srgbClr val="111318"/>
                </a:solidFill>
              </a:defRPr>
            </a:pPr>
            <a:r>
              <a:t>Karnataka state soft launch cohort</a:t>
            </a:r>
          </a:p>
          <a:p>
            <a:pPr>
              <a:spcBef>
                <a:spcPts val="1200"/>
              </a:spcBef>
              <a:defRPr b="1" sz="1100">
                <a:solidFill>
                  <a:srgbClr val="1F9D63"/>
                </a:solidFill>
              </a:defRPr>
            </a:pPr>
            <a:r>
              <a:t>Key Metric: Verified Data Agency Rate</a:t>
            </a:r>
          </a:p>
          <a:p>
            <a:pPr>
              <a:spcBef>
                <a:spcPts val="800"/>
              </a:spcBef>
              <a:defRPr b="1" sz="1100">
                <a:solidFill>
                  <a:srgbClr val="D33B3B"/>
                </a:solidFill>
              </a:defRPr>
            </a:pPr>
            <a:r>
              <a:t>Rollback: Halt on critical journey failure rate &gt;1%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633472" cy="34747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737360"/>
            <a:ext cx="263347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B5CE0"/>
                </a:solidFill>
              </a:defRPr>
            </a:pPr>
            <a:r>
              <a:t>3. EXPANDED</a:t>
            </a:r>
          </a:p>
          <a:p>
            <a:pPr>
              <a:spcBef>
                <a:spcPts val="800"/>
              </a:spcBef>
              <a:defRPr sz="1150">
                <a:solidFill>
                  <a:srgbClr val="111318"/>
                </a:solidFill>
              </a:defRPr>
            </a:pPr>
            <a:r>
              <a:t>Additional state cohorts</a:t>
            </a:r>
          </a:p>
          <a:p>
            <a:pPr>
              <a:spcBef>
                <a:spcPts val="1200"/>
              </a:spcBef>
              <a:defRPr b="1" sz="1100">
                <a:solidFill>
                  <a:srgbClr val="1F9D63"/>
                </a:solidFill>
              </a:defRPr>
            </a:pPr>
            <a:r>
              <a:t>Key Metric: Median Resolution Time</a:t>
            </a:r>
          </a:p>
          <a:p>
            <a:pPr>
              <a:spcBef>
                <a:spcPts val="800"/>
              </a:spcBef>
              <a:defRPr b="1" sz="1100">
                <a:solidFill>
                  <a:srgbClr val="D33B3B"/>
                </a:solidFill>
              </a:defRPr>
            </a:pPr>
            <a:r>
              <a:t>Rollback: Halt on critical journey failure rate &gt;1%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633472" cy="34747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737360"/>
            <a:ext cx="263347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B5CE0"/>
                </a:solidFill>
              </a:defRPr>
            </a:pPr>
            <a:r>
              <a:t>4. NATIONAL</a:t>
            </a:r>
          </a:p>
          <a:p>
            <a:pPr>
              <a:spcBef>
                <a:spcPts val="800"/>
              </a:spcBef>
              <a:defRPr sz="1150">
                <a:solidFill>
                  <a:srgbClr val="111318"/>
                </a:solidFill>
              </a:defRPr>
            </a:pPr>
            <a:r>
              <a:t>India nationwide rollout</a:t>
            </a:r>
          </a:p>
          <a:p>
            <a:pPr>
              <a:spcBef>
                <a:spcPts val="1200"/>
              </a:spcBef>
              <a:defRPr b="1" sz="1100">
                <a:solidFill>
                  <a:srgbClr val="1F9D63"/>
                </a:solidFill>
              </a:defRPr>
            </a:pPr>
            <a:r>
              <a:t>Key Metric: CSAT feedback scores</a:t>
            </a:r>
          </a:p>
          <a:p>
            <a:pPr>
              <a:spcBef>
                <a:spcPts val="800"/>
              </a:spcBef>
              <a:defRPr b="1" sz="1100">
                <a:solidFill>
                  <a:srgbClr val="D33B3B"/>
                </a:solidFill>
              </a:defRPr>
            </a:pPr>
            <a:r>
              <a:t>Rollback: Halt on critical journey failure rate &gt;1%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725912" cy="100584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B5CE0"/>
                </a:solidFill>
              </a:defRPr>
            </a:pPr>
            <a:r>
              <a:t>UX EXPERIMENTATION HYPOTHESIS TESTING POLICY</a:t>
            </a:r>
          </a:p>
          <a:p>
            <a:pPr>
              <a:spcBef>
                <a:spcPts val="400"/>
              </a:spcBef>
              <a:defRPr sz="1200">
                <a:solidFill>
                  <a:srgbClr val="111318"/>
                </a:solidFill>
              </a:defRPr>
            </a:pPr>
            <a:r>
              <a:t>Experimentation boundary: do not withhold core rights-access pathways from eligible users. Test UX elements such as copy, information hierarchy, progressive disclosure, and reminder timing instead.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CE0"/>
                </a:solidFill>
                <a:latin typeface="Inter"/>
              </a:defRPr>
            </a:pPr>
            <a:r>
              <a:t>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318"/>
                </a:solidFill>
                <a:latin typeface="Inter"/>
              </a:defRPr>
            </a:pPr>
            <a:r>
              <a:t>Risks &amp; Accepted Trade-offs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B5CE0"/>
                </a:solidFill>
              </a:defRPr>
            </a:pPr>
            <a:r>
              <a:t>Risk Theme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554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B5CE0"/>
                </a:solidFill>
              </a:defRPr>
            </a:pPr>
            <a:r>
              <a:t>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554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B5CE0"/>
                </a:solidFill>
              </a:defRPr>
            </a:pPr>
            <a:r>
              <a:t>Likelihood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B5CE0"/>
                </a:solidFill>
              </a:defRPr>
            </a:pPr>
            <a:r>
              <a:t>Product Mitigation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B5CE0"/>
                </a:solidFill>
              </a:defRPr>
            </a:pPr>
            <a:r>
              <a:t>Accepted Trade-off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10725912" cy="749808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111318"/>
                </a:solidFill>
              </a:defRPr>
            </a:pPr>
            <a:r>
              <a:t>SIM Impersonation / Fake Claims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05740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D33B3B"/>
                </a:solidFill>
              </a:defRPr>
            </a:pPr>
            <a: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05740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C57A11"/>
                </a:solidFill>
              </a:defRPr>
            </a:pPr>
            <a:r>
              <a:t>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0574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B5160"/>
                </a:solidFill>
              </a:defRPr>
            </a:pPr>
            <a:r>
              <a:t>OTP verification confirms SIM ownership. Reviews prevent rapid bulk edits.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0574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1318"/>
                </a:solidFill>
              </a:defRPr>
            </a:pPr>
            <a:r>
              <a:t>Friction slows down turnaround times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834640"/>
            <a:ext cx="10725912" cy="749808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880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111318"/>
                </a:solidFill>
              </a:defRPr>
            </a:pPr>
            <a:r>
              <a:t>Spam Directory Degradation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88036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D33B3B"/>
                </a:solidFill>
              </a:defRPr>
            </a:pPr>
            <a: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88036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4B5160"/>
                </a:solidFill>
              </a:defRPr>
            </a:pPr>
            <a: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8803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B5160"/>
                </a:solidFill>
              </a:defRPr>
            </a:pPr>
            <a:r>
              <a:t>Separate public identity visibility from safety-signal retention; retention policy requires legal and Trust &amp; Safety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8803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1318"/>
                </a:solidFill>
              </a:defRPr>
            </a:pPr>
            <a:r>
              <a:t>Reduced contact metadata on unlistings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657600"/>
            <a:ext cx="10725912" cy="749808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703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111318"/>
                </a:solidFill>
              </a:defRPr>
            </a:pPr>
            <a:r>
              <a:t>OTP Onboarding Friction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7033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C57A11"/>
                </a:solidFill>
              </a:defRPr>
            </a:pPr>
            <a:r>
              <a:t>Medium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7033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D33B3B"/>
                </a:solidFill>
              </a:defRPr>
            </a:pPr>
            <a: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37033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B5160"/>
                </a:solidFill>
              </a:defRPr>
            </a:pPr>
            <a:r>
              <a:t>Trust intro cards explain verification rationale before prompting phone entries.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7033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1318"/>
                </a:solidFill>
              </a:defRPr>
            </a:pPr>
            <a:r>
              <a:t>Minor drop-off accepted for security check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480560"/>
            <a:ext cx="10725912" cy="749808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5262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111318"/>
                </a:solidFill>
              </a:defRPr>
            </a:pPr>
            <a:r>
              <a:t>Manual Review Staffing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45262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C57A11"/>
                </a:solidFill>
              </a:defRPr>
            </a:pPr>
            <a:r>
              <a:t>Medium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45262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D33B3B"/>
                </a:solidFill>
              </a:defRPr>
            </a:pPr>
            <a:r>
              <a:t>High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45262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B5160"/>
                </a:solidFill>
              </a:defRPr>
            </a:pPr>
            <a:r>
              <a:t>Trigger filters isolate low-risk updates for instant approval.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45262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1318"/>
                </a:solidFill>
              </a:defRPr>
            </a:pPr>
            <a:r>
              <a:t>Higher operational cost for trust reviews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303520"/>
            <a:ext cx="10725912" cy="749808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3492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111318"/>
                </a:solidFill>
              </a:defRPr>
            </a:pPr>
            <a:r>
              <a:t>Data Provenance Leaks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53492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D33B3B"/>
                </a:solidFill>
              </a:defRPr>
            </a:pPr>
            <a:r>
              <a:t>High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53492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4B5160"/>
                </a:solidFill>
              </a:defRPr>
            </a:pPr>
            <a:r>
              <a:t>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53492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B5160"/>
                </a:solidFill>
              </a:defRPr>
            </a:pPr>
            <a:r>
              <a:t>Show aggregated contact listing counts only, protecting uploader identities.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53492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1318"/>
                </a:solidFill>
              </a:defRPr>
            </a:pPr>
            <a:r>
              <a:t>Anonymity limits direct listing disputes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