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2B5C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9144000" cy="457200"/>
          </a:xfrm>
          <a:prstGeom prst="rect">
            <a:avLst/>
          </a:prstGeom>
          <a:noFill/>
        </p:spPr>
        <p:txBody>
          <a:bodyPr wrap="none">
            <a:spAutoFit/>
          </a:bodyPr>
          <a:lstStyle/>
          <a:p>
            <a:pPr>
              <a:defRPr sz="1200" b="1">
                <a:solidFill>
                  <a:srgbClr val="2B5CE0"/>
                </a:solidFill>
                <a:latin typeface="Inter"/>
              </a:defRPr>
            </a:pPr>
            <a:r>
              <a:t>TRUECALLER  •  PRIVACY DESIGN THESIS</a:t>
            </a:r>
          </a:p>
        </p:txBody>
      </p:sp>
      <p:sp>
        <p:nvSpPr>
          <p:cNvPr id="4" name="TextBox 3"/>
          <p:cNvSpPr txBox="1"/>
          <p:nvPr/>
        </p:nvSpPr>
        <p:spPr>
          <a:xfrm>
            <a:off x="914400" y="2011680"/>
            <a:ext cx="10058400" cy="1371600"/>
          </a:xfrm>
          <a:prstGeom prst="rect">
            <a:avLst/>
          </a:prstGeom>
          <a:noFill/>
        </p:spPr>
        <p:txBody>
          <a:bodyPr wrap="square">
            <a:spAutoFit/>
          </a:bodyPr>
          <a:lstStyle/>
          <a:p>
            <a:pPr>
              <a:defRPr sz="4600" b="1">
                <a:solidFill>
                  <a:srgbClr val="111318"/>
                </a:solidFill>
                <a:latin typeface="Inter"/>
              </a:defRPr>
            </a:pPr>
            <a:r>
              <a:t>Identity Rights Center</a:t>
            </a:r>
          </a:p>
        </p:txBody>
      </p:sp>
      <p:sp>
        <p:nvSpPr>
          <p:cNvPr id="5" name="TextBox 4"/>
          <p:cNvSpPr txBox="1"/>
          <p:nvPr/>
        </p:nvSpPr>
        <p:spPr>
          <a:xfrm>
            <a:off x="914400" y="3108960"/>
            <a:ext cx="10058400" cy="914400"/>
          </a:xfrm>
          <a:prstGeom prst="rect">
            <a:avLst/>
          </a:prstGeom>
          <a:noFill/>
        </p:spPr>
        <p:txBody>
          <a:bodyPr wrap="square">
            <a:spAutoFit/>
          </a:bodyPr>
          <a:lstStyle/>
          <a:p>
            <a:pPr>
              <a:defRPr sz="2000">
                <a:solidFill>
                  <a:srgbClr val="4B5160"/>
                </a:solidFill>
                <a:latin typeface="Inter"/>
              </a:defRPr>
            </a:pPr>
            <a:r>
              <a:t>Designing privacy rights and data agency for people who never signed up.</a:t>
            </a:r>
          </a:p>
        </p:txBody>
      </p:sp>
      <p:sp>
        <p:nvSpPr>
          <p:cNvPr id="6" name="Rounded Rectangle 5"/>
          <p:cNvSpPr/>
          <p:nvPr/>
        </p:nvSpPr>
        <p:spPr>
          <a:xfrm>
            <a:off x="914400" y="4114800"/>
            <a:ext cx="10332720" cy="16459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4297680"/>
            <a:ext cx="9966960" cy="1280160"/>
          </a:xfrm>
          <a:prstGeom prst="rect">
            <a:avLst/>
          </a:prstGeom>
          <a:noFill/>
        </p:spPr>
        <p:txBody>
          <a:bodyPr wrap="square">
            <a:spAutoFit/>
          </a:bodyPr>
          <a:lstStyle/>
          <a:p>
            <a:pPr>
              <a:defRPr sz="1100" b="1">
                <a:solidFill>
                  <a:srgbClr val="2B5CE0"/>
                </a:solidFill>
              </a:defRPr>
            </a:pPr>
            <a:r>
              <a:t>THE PM THESIS</a:t>
            </a:r>
          </a:p>
          <a:p>
            <a:pPr>
              <a:spcBef>
                <a:spcPts val="600"/>
              </a:spcBef>
              <a:defRPr sz="1300">
                <a:solidFill>
                  <a:srgbClr val="111318"/>
                </a:solidFill>
                <a:latin typeface="Inter"/>
              </a:defRPr>
            </a:pPr>
            <a:r>
              <a:t>Truecaller's caller identification network aggregates contact address books, generating identity profile data on millions of non-users who never consented directly. The Identity Rights Center resolves this friction: it establishes a self-serve verification and compliance mechanism under the DPDP Act 2023, building public brand trust without degrading core spam classification integrity.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PROBLEM DEFINITION</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The Consent Asymmetry: User vs. Data Principal</a:t>
            </a:r>
          </a:p>
        </p:txBody>
      </p:sp>
      <p:sp>
        <p:nvSpPr>
          <p:cNvPr id="4" name="Rounded Rectangle 3"/>
          <p:cNvSpPr/>
          <p:nvPr/>
        </p:nvSpPr>
        <p:spPr>
          <a:xfrm>
            <a:off x="731520" y="1645920"/>
            <a:ext cx="512064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754880" cy="4023360"/>
          </a:xfrm>
          <a:prstGeom prst="rect">
            <a:avLst/>
          </a:prstGeom>
          <a:noFill/>
        </p:spPr>
        <p:txBody>
          <a:bodyPr wrap="square">
            <a:spAutoFit/>
          </a:bodyPr>
          <a:lstStyle/>
          <a:p>
            <a:pPr>
              <a:defRPr sz="1200" b="1">
                <a:solidFill>
                  <a:srgbClr val="2B5CE0"/>
                </a:solidFill>
              </a:defRPr>
            </a:pPr>
            <a:r>
              <a:t>THE ACTIVE USER (CONSENTER)</a:t>
            </a:r>
          </a:p>
          <a:p>
            <a:pPr>
              <a:spcBef>
                <a:spcPts val="1200"/>
              </a:spcBef>
              <a:defRPr sz="1300">
                <a:solidFill>
                  <a:srgbClr val="111318"/>
                </a:solidFill>
                <a:latin typeface="Inter"/>
              </a:defRPr>
            </a:pPr>
            <a:r>
              <a:t>• Explicit transaction: User installs Truecaller and uploads contact lists.</a:t>
            </a:r>
          </a:p>
          <a:p>
            <a:pPr>
              <a:spcBef>
                <a:spcPts val="1200"/>
              </a:spcBef>
              <a:defRPr sz="1300">
                <a:solidFill>
                  <a:srgbClr val="111318"/>
                </a:solidFill>
                <a:latin typeface="Inter"/>
              </a:defRPr>
            </a:pPr>
            <a:r>
              <a:t>• Benefit: Spam protection and caller ID mapping for themselves.</a:t>
            </a:r>
          </a:p>
          <a:p>
            <a:pPr>
              <a:spcBef>
                <a:spcPts val="1200"/>
              </a:spcBef>
              <a:defRPr sz="1300">
                <a:solidFill>
                  <a:srgbClr val="111318"/>
                </a:solidFill>
                <a:latin typeface="Inter"/>
              </a:defRPr>
            </a:pPr>
            <a:r>
              <a:t>• Implicit impact: Shares third-party data containing names, employers, tags, and phone numbers without warning the owners.</a:t>
            </a:r>
          </a:p>
        </p:txBody>
      </p:sp>
      <p:sp>
        <p:nvSpPr>
          <p:cNvPr id="6" name="Rounded Rectangle 5"/>
          <p:cNvSpPr/>
          <p:nvPr/>
        </p:nvSpPr>
        <p:spPr>
          <a:xfrm>
            <a:off x="6217920" y="1645920"/>
            <a:ext cx="521208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846320" cy="4023360"/>
          </a:xfrm>
          <a:prstGeom prst="rect">
            <a:avLst/>
          </a:prstGeom>
          <a:noFill/>
        </p:spPr>
        <p:txBody>
          <a:bodyPr wrap="square">
            <a:spAutoFit/>
          </a:bodyPr>
          <a:lstStyle/>
          <a:p>
            <a:pPr>
              <a:defRPr sz="1200" b="1">
                <a:solidFill>
                  <a:srgbClr val="D33B3B"/>
                </a:solidFill>
              </a:defRPr>
            </a:pPr>
            <a:r>
              <a:t>THE DATA PRINCIPAL (NON-USER)</a:t>
            </a:r>
          </a:p>
          <a:p>
            <a:pPr>
              <a:spcBef>
                <a:spcPts val="1000"/>
              </a:spcBef>
              <a:defRPr sz="1300">
                <a:solidFill>
                  <a:srgbClr val="111318"/>
                </a:solidFill>
                <a:latin typeface="Inter"/>
              </a:defRPr>
            </a:pPr>
            <a:r>
              <a:t>• No Consent Transaction: Details listed and circulated to strangers with zero notice or direct opt-in agreements.</a:t>
            </a:r>
          </a:p>
          <a:p>
            <a:pPr>
              <a:spcBef>
                <a:spcPts val="1000"/>
              </a:spcBef>
              <a:defRPr sz="1300">
                <a:solidFill>
                  <a:srgbClr val="111318"/>
                </a:solidFill>
                <a:latin typeface="Inter"/>
              </a:defRPr>
            </a:pPr>
            <a:r>
              <a:t>• Inaccuracy Damage: Incorrect tags or spam ratings harm reputation, with no direct way to correct or remove.</a:t>
            </a:r>
          </a:p>
          <a:p>
            <a:pPr>
              <a:spcBef>
                <a:spcPts val="1000"/>
              </a:spcBef>
              <a:defRPr sz="1300">
                <a:solidFill>
                  <a:srgbClr val="111318"/>
                </a:solidFill>
                <a:latin typeface="Inter"/>
              </a:defRPr>
            </a:pPr>
            <a:r>
              <a:t>• Vulnerable Exposure: Minors' and vulnerable individuals' details are listed via parental contact syncs.</a:t>
            </a:r>
          </a:p>
          <a:p>
            <a:pPr>
              <a:spcBef>
                <a:spcPts val="1000"/>
              </a:spcBef>
              <a:defRPr sz="1300">
                <a:solidFill>
                  <a:srgbClr val="111318"/>
                </a:solidFill>
                <a:latin typeface="Inter"/>
              </a:defRPr>
            </a:pPr>
            <a:r>
              <a:t>• Compliance risk: Under India's DPDP Act 2023, data principals hold rights of access, correction, and erasure.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TARGET AUDIENCE</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User Persona: Rekha, the Non-User Data Subject</a:t>
            </a:r>
          </a:p>
        </p:txBody>
      </p:sp>
      <p:sp>
        <p:nvSpPr>
          <p:cNvPr id="4" name="Rounded Rectangle 3"/>
          <p:cNvSpPr/>
          <p:nvPr/>
        </p:nvSpPr>
        <p:spPr>
          <a:xfrm>
            <a:off x="731520" y="1645920"/>
            <a:ext cx="347472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3108960" cy="4023360"/>
          </a:xfrm>
          <a:prstGeom prst="rect">
            <a:avLst/>
          </a:prstGeom>
          <a:noFill/>
        </p:spPr>
        <p:txBody>
          <a:bodyPr wrap="square">
            <a:spAutoFit/>
          </a:bodyPr>
          <a:lstStyle/>
          <a:p>
            <a:pPr>
              <a:defRPr sz="1600" b="1">
                <a:solidFill>
                  <a:srgbClr val="111318"/>
                </a:solidFill>
              </a:defRPr>
            </a:pPr>
            <a:r>
              <a:t>REKHA MENON, 42</a:t>
            </a:r>
          </a:p>
          <a:p>
            <a:pPr>
              <a:spcBef>
                <a:spcPts val="400"/>
              </a:spcBef>
              <a:defRPr sz="1200">
                <a:solidFill>
                  <a:srgbClr val="4B5160"/>
                </a:solidFill>
              </a:defRPr>
            </a:pPr>
            <a:r>
              <a:t>Operations Manager</a:t>
            </a:r>
            <a:br/>
            <a:r>
              <a:t>Never installed Truecaller.</a:t>
            </a:r>
          </a:p>
          <a:p>
            <a:pPr>
              <a:spcBef>
                <a:spcPts val="1600"/>
              </a:spcBef>
              <a:defRPr sz="1100" i="1">
                <a:solidFill>
                  <a:srgbClr val="4B5160"/>
                </a:solidFill>
              </a:defRPr>
            </a:pPr>
            <a:r>
              <a:t>"My number is shared in dozens of address books by colleagues, family, and vendors. Occasionally I hear that my calls show up as 'R. Menon' or under wrong company tags. I don't use this app, but it decides how the world identifies me."</a:t>
            </a:r>
          </a:p>
        </p:txBody>
      </p:sp>
      <p:sp>
        <p:nvSpPr>
          <p:cNvPr id="6" name="TextBox 5"/>
          <p:cNvSpPr txBox="1"/>
          <p:nvPr/>
        </p:nvSpPr>
        <p:spPr>
          <a:xfrm>
            <a:off x="4572000" y="1645920"/>
            <a:ext cx="6858000" cy="4389120"/>
          </a:xfrm>
          <a:prstGeom prst="rect">
            <a:avLst/>
          </a:prstGeom>
          <a:noFill/>
        </p:spPr>
        <p:txBody>
          <a:bodyPr wrap="square">
            <a:spAutoFit/>
          </a:bodyPr>
          <a:lstStyle/>
          <a:p>
            <a:pPr>
              <a:defRPr sz="1200" b="1">
                <a:solidFill>
                  <a:srgbClr val="2B5CE0"/>
                </a:solidFill>
              </a:defRPr>
            </a:pPr>
            <a:r>
              <a:t>CORE PAIN POINTS &amp; STRATEGIC IMPORTANCE</a:t>
            </a:r>
          </a:p>
          <a:p>
            <a:pPr>
              <a:spcBef>
                <a:spcPts val="1200"/>
              </a:spcBef>
              <a:defRPr sz="1300" b="1">
                <a:solidFill>
                  <a:srgbClr val="111318"/>
                </a:solidFill>
              </a:defRPr>
            </a:pPr>
            <a:r>
              <a:t>• Opaque Directory footprint: </a:t>
            </a:r>
            <a:r>
              <a:rPr b="0" sz="1300">
                <a:solidFill>
                  <a:srgbClr val="4B5160"/>
                </a:solidFill>
              </a:rPr>
              <a:t>No direct notification is sent to people when their details are added or tagged in the lookup directory.</a:t>
            </a:r>
          </a:p>
          <a:p>
            <a:pPr>
              <a:spcBef>
                <a:spcPts val="1200"/>
              </a:spcBef>
              <a:defRPr sz="1300" b="1">
                <a:solidFill>
                  <a:srgbClr val="111318"/>
                </a:solidFill>
              </a:defRPr>
            </a:pPr>
            <a:r>
              <a:t>• Buried Correction Pathways: </a:t>
            </a:r>
            <a:r>
              <a:rPr b="0" sz="1300">
                <a:solidFill>
                  <a:srgbClr val="4B5160"/>
                </a:solidFill>
              </a:rPr>
              <a:t>Fixing incorrect spellings or spam flags historically required navigating complex, buried support ticketers.</a:t>
            </a:r>
          </a:p>
          <a:p>
            <a:pPr>
              <a:spcBef>
                <a:spcPts val="1200"/>
              </a:spcBef>
              <a:defRPr sz="1300" b="1">
                <a:solidFill>
                  <a:srgbClr val="111318"/>
                </a:solidFill>
              </a:defRPr>
            </a:pPr>
            <a:r>
              <a:t>• Lack of Provenance: </a:t>
            </a:r>
            <a:r>
              <a:rPr b="0" sz="1300">
                <a:solidFill>
                  <a:srgbClr val="4B5160"/>
                </a:solidFill>
              </a:rPr>
              <a:t>Subjects cannot trace why they were tagged or how many contact syncs contributed to their classification status.</a:t>
            </a:r>
          </a:p>
          <a:p>
            <a:pPr>
              <a:spcBef>
                <a:spcPts val="1200"/>
              </a:spcBef>
              <a:defRPr sz="1300" b="1">
                <a:solidFill>
                  <a:srgbClr val="111318"/>
                </a:solidFill>
              </a:defRPr>
            </a:pPr>
            <a:r>
              <a:t>• Ownership Authentication Friction: </a:t>
            </a:r>
            <a:r>
              <a:rPr b="0" sz="1300">
                <a:solidFill>
                  <a:srgbClr val="4B5160"/>
                </a:solidFill>
              </a:rPr>
              <a:t>Proving a SIM card belongs to you to request erasure without creating security spoofing vectors.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EXPERIENCE MAPPING</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The Current Journey: Opaque Directory Surfacing</a:t>
            </a:r>
          </a:p>
        </p:txBody>
      </p:sp>
      <p:sp>
        <p:nvSpPr>
          <p:cNvPr id="4" name="Rounded Rectangle 3"/>
          <p:cNvSpPr/>
          <p:nvPr/>
        </p:nvSpPr>
        <p:spPr>
          <a:xfrm>
            <a:off x="731520" y="2011680"/>
            <a:ext cx="3291840" cy="365760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108960" cy="3474720"/>
          </a:xfrm>
          <a:prstGeom prst="rect">
            <a:avLst/>
          </a:prstGeom>
          <a:noFill/>
        </p:spPr>
        <p:txBody>
          <a:bodyPr wrap="square">
            <a:spAutoFit/>
          </a:bodyPr>
          <a:lstStyle/>
          <a:p>
            <a:pPr>
              <a:defRPr b="1" sz="1300">
                <a:solidFill>
                  <a:srgbClr val="2B5CE0"/>
                </a:solidFill>
              </a:defRPr>
            </a:pPr>
            <a:r>
              <a:t>1. HARVEST &amp; CLASSIFY</a:t>
            </a:r>
          </a:p>
          <a:p>
            <a:pPr>
              <a:spcBef>
                <a:spcPts val="800"/>
              </a:spcBef>
              <a:defRPr sz="1200">
                <a:solidFill>
                  <a:srgbClr val="4B5160"/>
                </a:solidFill>
              </a:defRPr>
            </a:pPr>
            <a:r>
              <a:t>Contacts uploaded in bulk. Name records aggregated, assigning a visual identity or spam label. The affected subject has zero notice.</a:t>
            </a:r>
          </a:p>
        </p:txBody>
      </p:sp>
      <p:sp>
        <p:nvSpPr>
          <p:cNvPr id="6" name="Rounded Rectangle 5"/>
          <p:cNvSpPr/>
          <p:nvPr/>
        </p:nvSpPr>
        <p:spPr>
          <a:xfrm>
            <a:off x="4389120" y="2011680"/>
            <a:ext cx="3291840" cy="365760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80560" y="2103120"/>
            <a:ext cx="3108960" cy="3474720"/>
          </a:xfrm>
          <a:prstGeom prst="rect">
            <a:avLst/>
          </a:prstGeom>
          <a:noFill/>
        </p:spPr>
        <p:txBody>
          <a:bodyPr wrap="square">
            <a:spAutoFit/>
          </a:bodyPr>
          <a:lstStyle/>
          <a:p>
            <a:pPr>
              <a:defRPr b="1" sz="1300">
                <a:solidFill>
                  <a:srgbClr val="2B5CE0"/>
                </a:solidFill>
              </a:defRPr>
            </a:pPr>
            <a:r>
              <a:t>2. PUBLIC EXPOSURE</a:t>
            </a:r>
          </a:p>
          <a:p>
            <a:pPr>
              <a:spcBef>
                <a:spcPts val="800"/>
              </a:spcBef>
              <a:defRPr sz="1200">
                <a:solidFill>
                  <a:srgbClr val="4B5160"/>
                </a:solidFill>
              </a:defRPr>
            </a:pPr>
            <a:r>
              <a:t>Strangers see incorrect spellings or tags when receiving calls from the subject. The subject only learns of the issue via external complaints.</a:t>
            </a:r>
          </a:p>
        </p:txBody>
      </p:sp>
      <p:sp>
        <p:nvSpPr>
          <p:cNvPr id="8" name="Rounded Rectangle 7"/>
          <p:cNvSpPr/>
          <p:nvPr/>
        </p:nvSpPr>
        <p:spPr>
          <a:xfrm>
            <a:off x="8046720" y="2011680"/>
            <a:ext cx="3383280" cy="365760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103120"/>
            <a:ext cx="3200400" cy="3474720"/>
          </a:xfrm>
          <a:prstGeom prst="rect">
            <a:avLst/>
          </a:prstGeom>
          <a:noFill/>
        </p:spPr>
        <p:txBody>
          <a:bodyPr wrap="square">
            <a:spAutoFit/>
          </a:bodyPr>
          <a:lstStyle/>
          <a:p>
            <a:pPr>
              <a:defRPr b="1" sz="1300">
                <a:solidFill>
                  <a:srgbClr val="D33B3B"/>
                </a:solidFill>
              </a:defRPr>
            </a:pPr>
            <a:r>
              <a:t>3. OPAQUE RECOURSE</a:t>
            </a:r>
          </a:p>
          <a:p>
            <a:pPr>
              <a:spcBef>
                <a:spcPts val="800"/>
              </a:spcBef>
              <a:defRPr sz="1200">
                <a:solidFill>
                  <a:srgbClr val="4B5160"/>
                </a:solidFill>
              </a:defRPr>
            </a:pPr>
            <a:r>
              <a:t>Opt-out links are buried. Proving SIM ownership to request unlisting causes friction. Status updates are hidden, leaving users anxious.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PROPOSED PRODUCT</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Self-Serve Privacy Agency: Identity Rights Center</a:t>
            </a:r>
          </a:p>
        </p:txBody>
      </p:sp>
      <p:sp>
        <p:nvSpPr>
          <p:cNvPr id="4" name="TextBox 3"/>
          <p:cNvSpPr txBox="1"/>
          <p:nvPr/>
        </p:nvSpPr>
        <p:spPr>
          <a:xfrm>
            <a:off x="731520" y="1645920"/>
            <a:ext cx="5303520" cy="4389120"/>
          </a:xfrm>
          <a:prstGeom prst="rect">
            <a:avLst/>
          </a:prstGeom>
          <a:noFill/>
        </p:spPr>
        <p:txBody>
          <a:bodyPr wrap="square">
            <a:spAutoFit/>
          </a:bodyPr>
          <a:lstStyle/>
          <a:p>
            <a:pPr>
              <a:defRPr b="1" sz="1200">
                <a:solidFill>
                  <a:srgbClr val="2B5CE0"/>
                </a:solidFill>
              </a:defRPr>
            </a:pPr>
            <a:r>
              <a:t>CORE ARCHITECTURE PILLARS</a:t>
            </a:r>
          </a:p>
          <a:p>
            <a:pPr>
              <a:spcBef>
                <a:spcPts val="1000"/>
              </a:spcBef>
              <a:defRPr sz="1300" b="1">
                <a:solidFill>
                  <a:srgbClr val="111318"/>
                </a:solidFill>
              </a:defRPr>
            </a:pPr>
            <a:r>
              <a:t>• Verify (OTP Secure): </a:t>
            </a:r>
            <a:r>
              <a:rPr b="0" sz="1250">
                <a:solidFill>
                  <a:srgbClr val="4B5160"/>
                </a:solidFill>
              </a:rPr>
              <a:t>10-digit entry + 6-digit passcode auto-advance grids confirm physical SIM card ownership safely.</a:t>
            </a:r>
          </a:p>
          <a:p>
            <a:pPr>
              <a:spcBef>
                <a:spcPts val="1000"/>
              </a:spcBef>
              <a:defRPr sz="1300" b="1">
                <a:solidFill>
                  <a:srgbClr val="111318"/>
                </a:solidFill>
              </a:defRPr>
            </a:pPr>
            <a:r>
              <a:t>• Discover (Data Transparency): </a:t>
            </a:r>
            <a:r>
              <a:rPr b="0" sz="1250">
                <a:solidFill>
                  <a:srgbClr val="4B5160"/>
                </a:solidFill>
              </a:rPr>
              <a:t>Shows listed displayName, exact contributing address-book uploads count, and spam scores.</a:t>
            </a:r>
          </a:p>
          <a:p>
            <a:pPr>
              <a:spcBef>
                <a:spcPts val="1000"/>
              </a:spcBef>
              <a:defRPr sz="1300" b="1">
                <a:solidFill>
                  <a:srgbClr val="111318"/>
                </a:solidFill>
              </a:defRPr>
            </a:pPr>
            <a:r>
              <a:t>• Control (Correction &amp; Erasure): </a:t>
            </a:r>
            <a:r>
              <a:rPr b="0" sz="1250">
                <a:solidFill>
                  <a:srgbClr val="4B5160"/>
                </a:solidFill>
              </a:rPr>
              <a:t>Correct listings spelling or trigger unlisting requests. Features progressive-disclosure warnings explaining call-protection trade-offs.</a:t>
            </a:r>
          </a:p>
          <a:p>
            <a:pPr>
              <a:spcBef>
                <a:spcPts val="1000"/>
              </a:spcBef>
              <a:defRPr sz="1300" b="1">
                <a:solidFill>
                  <a:srgbClr val="111318"/>
                </a:solidFill>
              </a:defRPr>
            </a:pPr>
            <a:r>
              <a:t>• Track (Ticket Stepper &amp; Undo): </a:t>
            </a:r>
            <a:r>
              <a:rPr b="0" sz="1250">
                <a:solidFill>
                  <a:srgbClr val="4B5160"/>
                </a:solidFill>
              </a:rPr>
              <a:t>Status stepper connectors (Submitted -&gt; Review -&gt; Resolved) visual timeline. Includes a 5-second undo delay to recall submissions.</a:t>
            </a:r>
          </a:p>
        </p:txBody>
      </p:sp>
      <p:sp>
        <p:nvSpPr>
          <p:cNvPr id="5" name="Rounded Rectangle 4"/>
          <p:cNvSpPr/>
          <p:nvPr/>
        </p:nvSpPr>
        <p:spPr>
          <a:xfrm>
            <a:off x="6583680" y="1645920"/>
            <a:ext cx="484632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66560" y="1828800"/>
            <a:ext cx="4480560" cy="4023360"/>
          </a:xfrm>
          <a:prstGeom prst="rect">
            <a:avLst/>
          </a:prstGeom>
          <a:noFill/>
        </p:spPr>
        <p:txBody>
          <a:bodyPr wrap="square">
            <a:spAutoFit/>
          </a:bodyPr>
          <a:lstStyle/>
          <a:p>
            <a:pPr>
              <a:defRPr b="1" sz="1200">
                <a:solidFill>
                  <a:srgbClr val="1F9D63"/>
                </a:solidFill>
              </a:defRPr>
            </a:pPr>
            <a:r>
              <a:t>DELIGHT &amp; EMPATHY HIGHLIGHTS</a:t>
            </a:r>
          </a:p>
          <a:p>
            <a:pPr>
              <a:spcBef>
                <a:spcPts val="1000"/>
              </a:spcBef>
              <a:defRPr sz="1300" b="1">
                <a:solidFill>
                  <a:srgbClr val="111318"/>
                </a:solidFill>
              </a:defRPr>
            </a:pPr>
            <a:r>
              <a:t>• Trust Intro screen: </a:t>
            </a:r>
            <a:r>
              <a:rPr b="0" sz="1250">
                <a:solidFill>
                  <a:srgbClr val="4B5160"/>
                </a:solidFill>
              </a:rPr>
              <a:t>Front-loads context on why Truecaller has their data, before prompting for number details.</a:t>
            </a:r>
          </a:p>
          <a:p>
            <a:pPr>
              <a:spcBef>
                <a:spcPts val="1000"/>
              </a:spcBef>
              <a:defRPr sz="1300" b="1">
                <a:solidFill>
                  <a:srgbClr val="111318"/>
                </a:solidFill>
              </a:defRPr>
            </a:pPr>
            <a:r>
              <a:t>• Empathetic Microcopy: </a:t>
            </a:r>
            <a:r>
              <a:rPr b="0" sz="1250">
                <a:solidFill>
                  <a:srgbClr val="4B5160"/>
                </a:solidFill>
              </a:rPr>
              <a:t>Context-aware greetings on first load reassure users: "This is your data, presented clearly — take your time."</a:t>
            </a:r>
          </a:p>
          <a:p>
            <a:pPr>
              <a:spcBef>
                <a:spcPts val="1000"/>
              </a:spcBef>
              <a:defRPr sz="1300" b="1">
                <a:solidFill>
                  <a:srgbClr val="111318"/>
                </a:solidFill>
              </a:defRPr>
            </a:pPr>
            <a:r>
              <a:t>• Mobile Bottom Sheet: </a:t>
            </a:r>
            <a:r>
              <a:rPr b="0" sz="1250">
                <a:solidFill>
                  <a:srgbClr val="4B5160"/>
                </a:solidFill>
              </a:rPr>
              <a:t>Visual sheet formats adjust automatically below tablet breakpoints to match modern settings menus.</a:t>
            </a:r>
          </a:p>
          <a:p>
            <a:pPr>
              <a:spcBef>
                <a:spcPts val="1000"/>
              </a:spcBef>
              <a:defRPr sz="1300" b="1">
                <a:solidFill>
                  <a:srgbClr val="111318"/>
                </a:solidFill>
              </a:defRPr>
            </a:pPr>
            <a:r>
              <a:t>• Grievance Redressal: </a:t>
            </a:r>
            <a:r>
              <a:rPr b="0" sz="1250">
                <a:solidFill>
                  <a:srgbClr val="4B5160"/>
                </a:solidFill>
              </a:rPr>
              <a:t>Dedicated compliance pages link directly to the designated Data Grievance Officer, aligning with DPDP guidelines.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PRODUCT ANALYTICS</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Product Success Model: Metrics &amp; Guardrails</a:t>
            </a:r>
          </a:p>
        </p:txBody>
      </p:sp>
      <p:sp>
        <p:nvSpPr>
          <p:cNvPr id="4" name="Rounded Rectangle 3"/>
          <p:cNvSpPr/>
          <p:nvPr/>
        </p:nvSpPr>
        <p:spPr>
          <a:xfrm>
            <a:off x="731520" y="1645920"/>
            <a:ext cx="329184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37360"/>
            <a:ext cx="3108960" cy="4206240"/>
          </a:xfrm>
          <a:prstGeom prst="rect">
            <a:avLst/>
          </a:prstGeom>
          <a:noFill/>
        </p:spPr>
        <p:txBody>
          <a:bodyPr wrap="square">
            <a:spAutoFit/>
          </a:bodyPr>
          <a:lstStyle/>
          <a:p>
            <a:pPr>
              <a:defRPr b="1" sz="1200">
                <a:solidFill>
                  <a:srgbClr val="2B5CE0"/>
                </a:solidFill>
              </a:defRPr>
            </a:pPr>
            <a:r>
              <a:t>NORTH STAR METRIC</a:t>
            </a:r>
          </a:p>
          <a:p>
            <a:pPr>
              <a:spcBef>
                <a:spcPts val="1400"/>
              </a:spcBef>
              <a:defRPr b="1" sz="1400">
                <a:solidFill>
                  <a:srgbClr val="111318"/>
                </a:solidFill>
              </a:defRPr>
            </a:pPr>
            <a:r>
              <a:t>% Active Directory Listings with Verified Consent Status</a:t>
            </a:r>
          </a:p>
          <a:p>
            <a:pPr>
              <a:spcBef>
                <a:spcPts val="800"/>
              </a:spcBef>
              <a:defRPr sz="1200">
                <a:solidFill>
                  <a:srgbClr val="4B5160"/>
                </a:solidFill>
              </a:defRPr>
            </a:pPr>
            <a:r>
              <a:t>Measures the ratio of phone numbers whose identification tags have been verified or corrected by their owners, compared to unverified listings. Tracks progress in moving from bulk crowdsourced syncs to verified, consent-backed directories.</a:t>
            </a:r>
          </a:p>
        </p:txBody>
      </p:sp>
      <p:sp>
        <p:nvSpPr>
          <p:cNvPr id="6" name="Rounded Rectangle 5"/>
          <p:cNvSpPr/>
          <p:nvPr/>
        </p:nvSpPr>
        <p:spPr>
          <a:xfrm>
            <a:off x="4389120" y="1645920"/>
            <a:ext cx="329184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80560" y="1737360"/>
            <a:ext cx="3108960" cy="4206240"/>
          </a:xfrm>
          <a:prstGeom prst="rect">
            <a:avLst/>
          </a:prstGeom>
          <a:noFill/>
        </p:spPr>
        <p:txBody>
          <a:bodyPr wrap="square">
            <a:spAutoFit/>
          </a:bodyPr>
          <a:lstStyle/>
          <a:p>
            <a:pPr>
              <a:defRPr b="1" sz="1200">
                <a:solidFill>
                  <a:srgbClr val="1F9D63"/>
                </a:solidFill>
              </a:defRPr>
            </a:pPr>
            <a:r>
              <a:t>FUNNEL SUPPORTING METRICS</a:t>
            </a:r>
          </a:p>
          <a:p>
            <a:pPr>
              <a:spcBef>
                <a:spcPts val="1200"/>
              </a:spcBef>
              <a:defRPr b="1" sz="1300">
                <a:solidFill>
                  <a:srgbClr val="111318"/>
                </a:solidFill>
              </a:defRPr>
            </a:pPr>
            <a:r>
              <a:t>• OTP Verification Success Rate:</a:t>
            </a:r>
            <a:r>
              <a:rPr b="0" sz="1200">
                <a:solidFill>
                  <a:srgbClr val="4B5160"/>
                </a:solidFill>
              </a:rPr>
              <a:t> Tracks onboarding drop-offs to check SMS delivery or code input friction.</a:t>
            </a:r>
          </a:p>
          <a:p>
            <a:pPr>
              <a:spcBef>
                <a:spcPts val="1000"/>
              </a:spcBef>
              <a:defRPr b="1" sz="1300">
                <a:solidFill>
                  <a:srgbClr val="111318"/>
                </a:solidFill>
              </a:defRPr>
            </a:pPr>
            <a:r>
              <a:t>• Ticket Resolution SLA:</a:t>
            </a:r>
            <a:r>
              <a:rPr b="0" sz="1200">
                <a:solidFill>
                  <a:srgbClr val="4B5160"/>
                </a:solidFill>
              </a:rPr>
              <a:t> Median time to resolve a ticket. Target: &lt; 5 business days.</a:t>
            </a:r>
          </a:p>
          <a:p>
            <a:pPr>
              <a:spcBef>
                <a:spcPts val="1000"/>
              </a:spcBef>
              <a:defRPr b="1" sz="1300">
                <a:solidFill>
                  <a:srgbClr val="111318"/>
                </a:solidFill>
              </a:defRPr>
            </a:pPr>
            <a:r>
              <a:t>• Ticket Cancellation Rate:</a:t>
            </a:r>
            <a:r>
              <a:rPr b="0" sz="1200">
                <a:solidFill>
                  <a:srgbClr val="4B5160"/>
                </a:solidFill>
              </a:rPr>
              <a:t> Percentage of reviews cancelled by users, indicating user anxiety.</a:t>
            </a:r>
          </a:p>
        </p:txBody>
      </p:sp>
      <p:sp>
        <p:nvSpPr>
          <p:cNvPr id="8" name="Rounded Rectangle 7"/>
          <p:cNvSpPr/>
          <p:nvPr/>
        </p:nvSpPr>
        <p:spPr>
          <a:xfrm>
            <a:off x="8046720" y="1645920"/>
            <a:ext cx="338328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1737360"/>
            <a:ext cx="3200400" cy="4206240"/>
          </a:xfrm>
          <a:prstGeom prst="rect">
            <a:avLst/>
          </a:prstGeom>
          <a:noFill/>
        </p:spPr>
        <p:txBody>
          <a:bodyPr wrap="square">
            <a:spAutoFit/>
          </a:bodyPr>
          <a:lstStyle/>
          <a:p>
            <a:pPr>
              <a:defRPr b="1" sz="1200">
                <a:solidFill>
                  <a:srgbClr val="C57A11"/>
                </a:solidFill>
              </a:defRPr>
            </a:pPr>
            <a:r>
              <a:t>GUARDRAIL METRICS</a:t>
            </a:r>
          </a:p>
          <a:p>
            <a:pPr>
              <a:spcBef>
                <a:spcPts val="1200"/>
              </a:spcBef>
              <a:defRPr b="1" sz="1300">
                <a:solidFill>
                  <a:srgbClr val="111318"/>
                </a:solidFill>
              </a:defRPr>
            </a:pPr>
            <a:r>
              <a:t>• Spam Detection Accuracy:</a:t>
            </a:r>
            <a:r>
              <a:rPr b="0" sz="1200">
                <a:solidFill>
                  <a:srgbClr val="4B5160"/>
                </a:solidFill>
              </a:rPr>
              <a:t> Unlisting must not degrade spam accuracy by more than 0.5% (ensuring bad actors don't erase valid blocks).</a:t>
            </a:r>
          </a:p>
          <a:p>
            <a:pPr>
              <a:spcBef>
                <a:spcPts val="1000"/>
              </a:spcBef>
              <a:defRPr b="1" sz="1300">
                <a:solidFill>
                  <a:srgbClr val="111318"/>
                </a:solidFill>
              </a:defRPr>
            </a:pPr>
            <a:r>
              <a:t>• Contact Upload Sync Rates:</a:t>
            </a:r>
            <a:r>
              <a:rPr b="0" sz="1200">
                <a:solidFill>
                  <a:srgbClr val="4B5160"/>
                </a:solidFill>
              </a:rPr>
              <a:t> Consent UI changes must not decrease sync permissions from active app users.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STRATEGIC INCIDENT RESPONSE</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Diagnostic Thinking: Investigating a 15% Verification Drop</a:t>
            </a:r>
          </a:p>
        </p:txBody>
      </p:sp>
      <p:sp>
        <p:nvSpPr>
          <p:cNvPr id="4" name="Rounded Rectangle 3"/>
          <p:cNvSpPr/>
          <p:nvPr/>
        </p:nvSpPr>
        <p:spPr>
          <a:xfrm>
            <a:off x="731520" y="1645920"/>
            <a:ext cx="530352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937760" cy="4023360"/>
          </a:xfrm>
          <a:prstGeom prst="rect">
            <a:avLst/>
          </a:prstGeom>
          <a:noFill/>
        </p:spPr>
        <p:txBody>
          <a:bodyPr wrap="square">
            <a:spAutoFit/>
          </a:bodyPr>
          <a:lstStyle/>
          <a:p>
            <a:pPr>
              <a:defRPr b="1" sz="1200">
                <a:solidFill>
                  <a:srgbClr val="2B5CE0"/>
                </a:solidFill>
              </a:defRPr>
            </a:pPr>
            <a:r>
              <a:t>THE ROOT CAUSE HYPOTHESIS TREE</a:t>
            </a:r>
          </a:p>
          <a:p>
            <a:pPr>
              <a:spcBef>
                <a:spcPts val="1400"/>
              </a:spcBef>
              <a:defRPr sz="1300" b="1">
                <a:solidFill>
                  <a:srgbClr val="111318"/>
                </a:solidFill>
              </a:defRPr>
            </a:pPr>
            <a:r>
              <a:t>• H1: Onboarding SMS latency: </a:t>
            </a:r>
            <a:r>
              <a:rPr b="0" sz="1250">
                <a:solidFill>
                  <a:srgbClr val="4B5160"/>
                </a:solidFill>
              </a:rPr>
              <a:t>OTP delivery is dropping due to carrier routing delays in specific regions, causing users to abandon the funnel.</a:t>
            </a:r>
          </a:p>
          <a:p>
            <a:pPr>
              <a:spcBef>
                <a:spcPts val="1400"/>
              </a:spcBef>
              <a:defRPr sz="1300" b="1">
                <a:solidFill>
                  <a:srgbClr val="111318"/>
                </a:solidFill>
              </a:defRPr>
            </a:pPr>
            <a:r>
              <a:t>• H2: Erasure warning anxiety: </a:t>
            </a:r>
            <a:r>
              <a:rPr b="0" sz="1250">
                <a:solidFill>
                  <a:srgbClr val="4B5160"/>
                </a:solidFill>
              </a:rPr>
              <a:t>The Call-Protection Warning modal copy is too alarming, causing users to abandon unlisting requests.</a:t>
            </a:r>
          </a:p>
          <a:p>
            <a:pPr>
              <a:spcBef>
                <a:spcPts val="1400"/>
              </a:spcBef>
              <a:defRPr sz="1300" b="1">
                <a:solidFill>
                  <a:srgbClr val="111318"/>
                </a:solidFill>
              </a:defRPr>
            </a:pPr>
            <a:r>
              <a:t>• H3: Ticket review SLA delays: </a:t>
            </a:r>
            <a:r>
              <a:rPr b="0" sz="1250">
                <a:solidFill>
                  <a:srgbClr val="4B5160"/>
                </a:solidFill>
              </a:rPr>
              <a:t>Slow manual review queues lead to ticket backlog, prompting users to cancel active requests in frustration.</a:t>
            </a:r>
          </a:p>
        </p:txBody>
      </p:sp>
      <p:sp>
        <p:nvSpPr>
          <p:cNvPr id="6" name="Rounded Rectangle 5"/>
          <p:cNvSpPr/>
          <p:nvPr/>
        </p:nvSpPr>
        <p:spPr>
          <a:xfrm>
            <a:off x="6400800" y="1645920"/>
            <a:ext cx="502920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828800"/>
            <a:ext cx="4663440" cy="4023360"/>
          </a:xfrm>
          <a:prstGeom prst="rect">
            <a:avLst/>
          </a:prstGeom>
          <a:noFill/>
        </p:spPr>
        <p:txBody>
          <a:bodyPr wrap="square">
            <a:spAutoFit/>
          </a:bodyPr>
          <a:lstStyle/>
          <a:p>
            <a:pPr>
              <a:defRPr b="1" sz="1200">
                <a:solidFill>
                  <a:srgbClr val="1F9D63"/>
                </a:solidFill>
              </a:defRPr>
            </a:pPr>
            <a:r>
              <a:t>DIAGNOSTIC PROTOCOL</a:t>
            </a:r>
          </a:p>
          <a:p>
            <a:pPr>
              <a:spcBef>
                <a:spcPts val="1000"/>
              </a:spcBef>
              <a:defRPr sz="1300" b="1">
                <a:solidFill>
                  <a:srgbClr val="111318"/>
                </a:solidFill>
              </a:defRPr>
            </a:pPr>
            <a:r>
              <a:t>• Segment Funnel Analytics: </a:t>
            </a:r>
            <a:r>
              <a:rPr b="0" sz="1250">
                <a:solidFill>
                  <a:srgbClr val="4B5160"/>
                </a:solidFill>
              </a:rPr>
              <a:t>Evaluate conversion drop-offs specifically at Phone Entry -&gt; OTP vs. OTP -&gt; Dashboard vs. Action Submitted.</a:t>
            </a:r>
          </a:p>
          <a:p>
            <a:pPr>
              <a:spcBef>
                <a:spcPts val="1000"/>
              </a:spcBef>
              <a:defRPr sz="1300" b="1">
                <a:solidFill>
                  <a:srgbClr val="111318"/>
                </a:solidFill>
              </a:defRPr>
            </a:pPr>
            <a:r>
              <a:t>• Verify carrier SMS logs: </a:t>
            </a:r>
            <a:r>
              <a:rPr b="0" sz="1250">
                <a:solidFill>
                  <a:srgbClr val="4B5160"/>
                </a:solidFill>
              </a:rPr>
              <a:t>Cross-check OTP resend click volumes and OTP retry counts to isolate network latencies.</a:t>
            </a:r>
          </a:p>
          <a:p>
            <a:pPr>
              <a:spcBef>
                <a:spcPts val="1000"/>
              </a:spcBef>
              <a:defRPr sz="1300" b="1">
                <a:solidFill>
                  <a:srgbClr val="111318"/>
                </a:solidFill>
              </a:defRPr>
            </a:pPr>
            <a:r>
              <a:t>• Test warning disclosures: </a:t>
            </a:r>
            <a:r>
              <a:rPr b="0" sz="1250">
                <a:solidFill>
                  <a:srgbClr val="4B5160"/>
                </a:solidFill>
              </a:rPr>
              <a:t>Compare modal drop-off rates before and after expanding the progressive trade-off disclosures.</a:t>
            </a:r>
          </a:p>
          <a:p>
            <a:pPr>
              <a:spcBef>
                <a:spcPts val="1000"/>
              </a:spcBef>
              <a:defRPr sz="1300" b="1">
                <a:solidFill>
                  <a:srgbClr val="111318"/>
                </a:solidFill>
              </a:defRPr>
            </a:pPr>
            <a:r>
              <a:t>• Inspect queue backlog SLAs: </a:t>
            </a:r>
            <a:r>
              <a:rPr b="0" sz="1250">
                <a:solidFill>
                  <a:srgbClr val="4B5160"/>
                </a:solidFill>
              </a:rPr>
              <a:t>Review median ticket wait times to confirm if manual reviews are exceeding the 5-day SLA.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PORTAL ANALYTICS</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Product Dashboard: Core Privacy Performance Metrics</a:t>
            </a:r>
          </a:p>
        </p:txBody>
      </p:sp>
      <p:sp>
        <p:nvSpPr>
          <p:cNvPr id="4" name="Rounded Rectangle 3"/>
          <p:cNvSpPr/>
          <p:nvPr/>
        </p:nvSpPr>
        <p:spPr>
          <a:xfrm>
            <a:off x="731520" y="1645920"/>
            <a:ext cx="1069848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023360"/>
          </a:xfrm>
          <a:prstGeom prst="rect">
            <a:avLst/>
          </a:prstGeom>
          <a:noFill/>
        </p:spPr>
        <p:txBody>
          <a:bodyPr wrap="square">
            <a:spAutoFit/>
          </a:bodyPr>
          <a:lstStyle/>
          <a:p>
            <a:pPr>
              <a:defRPr b="1" sz="1200">
                <a:solidFill>
                  <a:srgbClr val="2B5CE0"/>
                </a:solidFill>
              </a:defRPr>
            </a:pPr>
            <a:r>
              <a:t>PORTAL ANALYTICS MOCK (WEEKLY REVIEWS)</a:t>
            </a:r>
          </a:p>
          <a:p>
            <a:pPr>
              <a:spcBef>
                <a:spcPts val="1200"/>
              </a:spcBef>
              <a:defRPr b="1" sz="1400">
                <a:solidFill>
                  <a:srgbClr val="111318"/>
                </a:solidFill>
              </a:defRPr>
            </a:pPr>
            <a:r>
              <a:t>Consent Verification Funnel performance:</a:t>
            </a:r>
          </a:p>
          <a:p>
            <a:pPr>
              <a:spcBef>
                <a:spcPts val="800"/>
              </a:spcBef>
              <a:defRPr sz="1300" b="1">
                <a:solidFill>
                  <a:srgbClr val="111318"/>
                </a:solidFill>
              </a:defRPr>
            </a:pPr>
            <a:r>
              <a:t>• Total Portal Visits (Landing): </a:t>
            </a:r>
            <a:r>
              <a:rPr b="0" sz="1300">
                <a:solidFill>
                  <a:srgbClr val="4B5160"/>
                </a:solidFill>
              </a:rPr>
              <a:t>128,450 sessions (100.0%)</a:t>
            </a:r>
          </a:p>
          <a:p>
            <a:pPr>
              <a:spcBef>
                <a:spcPts val="800"/>
              </a:spcBef>
              <a:defRPr sz="1300" b="1">
                <a:solidFill>
                  <a:srgbClr val="111318"/>
                </a:solidFill>
              </a:defRPr>
            </a:pPr>
            <a:r>
              <a:t>• Verify Screen Redirects (Intro): </a:t>
            </a:r>
            <a:r>
              <a:rPr b="0" sz="1300">
                <a:solidFill>
                  <a:srgbClr val="4B5160"/>
                </a:solidFill>
              </a:rPr>
              <a:t>100,700 sessions (78.4%)</a:t>
            </a:r>
          </a:p>
          <a:p>
            <a:pPr>
              <a:spcBef>
                <a:spcPts val="800"/>
              </a:spcBef>
              <a:defRPr sz="1300" b="1">
                <a:solidFill>
                  <a:srgbClr val="111318"/>
                </a:solidFill>
              </a:defRPr>
            </a:pPr>
            <a:r>
              <a:t>• Number Ownership Confirmed (OTP): </a:t>
            </a:r>
            <a:r>
              <a:rPr b="0" sz="1300">
                <a:solidFill>
                  <a:srgbClr val="4B5160"/>
                </a:solidFill>
              </a:rPr>
              <a:t>79,800 sessions (62.1% (Onboarding Success))</a:t>
            </a:r>
          </a:p>
          <a:p>
            <a:pPr>
              <a:spcBef>
                <a:spcPts val="800"/>
              </a:spcBef>
              <a:defRPr sz="1300" b="1">
                <a:solidFill>
                  <a:srgbClr val="111318"/>
                </a:solidFill>
              </a:defRPr>
            </a:pPr>
            <a:r>
              <a:t>• Action Submissions (Correction/Erasure): </a:t>
            </a:r>
            <a:r>
              <a:rPr b="0" sz="1300">
                <a:solidFill>
                  <a:srgbClr val="4B5160"/>
                </a:solidFill>
              </a:rPr>
              <a:t>31,200 requests (24.3% of total visits)</a:t>
            </a:r>
          </a:p>
          <a:p>
            <a:pPr>
              <a:spcBef>
                <a:spcPts val="2000"/>
              </a:spcBef>
              <a:defRPr b="1" sz="1300">
                <a:solidFill>
                  <a:srgbClr val="2B5CE0"/>
                </a:solidFill>
              </a:defRPr>
            </a:pPr>
            <a:r>
              <a:t>Submissions Segmentation: Name Correction Requests = 68% (21,216) | Erasure &amp; Unlisting Requests = 32% (9,984)</a:t>
            </a:r>
          </a:p>
          <a:p>
            <a:pPr>
              <a:spcBef>
                <a:spcPts val="800"/>
              </a:spcBef>
              <a:defRPr sz="1250" i="1">
                <a:solidFill>
                  <a:srgbClr val="1F9D63"/>
                </a:solidFill>
              </a:defRPr>
            </a:pPr>
            <a:r>
              <a:t>Median Ticket Review SLA: 3.4 business days (within the 5-day Target) | Portal CSAT Score: 86.4% clear and helpful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EXECUTION PLAN</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Rollout Strategy &amp; Validation Stages</a:t>
            </a:r>
          </a:p>
        </p:txBody>
      </p:sp>
      <p:sp>
        <p:nvSpPr>
          <p:cNvPr id="4" name="Rounded Rectangle 3"/>
          <p:cNvSpPr/>
          <p:nvPr/>
        </p:nvSpPr>
        <p:spPr>
          <a:xfrm>
            <a:off x="731520" y="1645920"/>
            <a:ext cx="329184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37360"/>
            <a:ext cx="3108960" cy="4206240"/>
          </a:xfrm>
          <a:prstGeom prst="rect">
            <a:avLst/>
          </a:prstGeom>
          <a:noFill/>
        </p:spPr>
        <p:txBody>
          <a:bodyPr wrap="square">
            <a:spAutoFit/>
          </a:bodyPr>
          <a:lstStyle/>
          <a:p>
            <a:pPr>
              <a:defRPr b="1" sz="1200">
                <a:solidFill>
                  <a:srgbClr val="2B5CE0"/>
                </a:solidFill>
              </a:defRPr>
            </a:pPr>
            <a:r>
              <a:t>PHASE 1: ALPHA PILOT</a:t>
            </a:r>
          </a:p>
          <a:p>
            <a:pPr>
              <a:spcBef>
                <a:spcPts val="1200"/>
              </a:spcBef>
              <a:defRPr b="1" sz="1300">
                <a:solidFill>
                  <a:srgbClr val="111318"/>
                </a:solidFill>
              </a:defRPr>
            </a:pPr>
            <a:r>
              <a:t>Internal Employee Testing</a:t>
            </a:r>
          </a:p>
          <a:p>
            <a:pPr>
              <a:spcBef>
                <a:spcPts val="800"/>
              </a:spcBef>
              <a:defRPr sz="1200">
                <a:solidFill>
                  <a:srgbClr val="4B5160"/>
                </a:solidFill>
              </a:defRPr>
            </a:pPr>
            <a:r>
              <a:t>Deploy prototype to internal employee channels. Validate basic SMS delivery, OTP box configurations, and test cancellation timelines. Verify that review queues route correctly without database errors.</a:t>
            </a:r>
          </a:p>
        </p:txBody>
      </p:sp>
      <p:sp>
        <p:nvSpPr>
          <p:cNvPr id="6" name="Rounded Rectangle 5"/>
          <p:cNvSpPr/>
          <p:nvPr/>
        </p:nvSpPr>
        <p:spPr>
          <a:xfrm>
            <a:off x="4389120" y="1645920"/>
            <a:ext cx="329184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80560" y="1737360"/>
            <a:ext cx="3108960" cy="4206240"/>
          </a:xfrm>
          <a:prstGeom prst="rect">
            <a:avLst/>
          </a:prstGeom>
          <a:noFill/>
        </p:spPr>
        <p:txBody>
          <a:bodyPr wrap="square">
            <a:spAutoFit/>
          </a:bodyPr>
          <a:lstStyle/>
          <a:p>
            <a:pPr>
              <a:defRPr b="1" sz="1200">
                <a:solidFill>
                  <a:srgbClr val="1F9D63"/>
                </a:solidFill>
              </a:defRPr>
            </a:pPr>
            <a:r>
              <a:t>PHASE 2: REGIONAL SOFT LAUNCH</a:t>
            </a:r>
          </a:p>
          <a:p>
            <a:pPr>
              <a:spcBef>
                <a:spcPts val="1200"/>
              </a:spcBef>
              <a:defRPr b="1" sz="1300">
                <a:solidFill>
                  <a:srgbClr val="111318"/>
                </a:solidFill>
              </a:defRPr>
            </a:pPr>
            <a:r>
              <a:t>Geographical Cohort Launch</a:t>
            </a:r>
          </a:p>
          <a:p>
            <a:pPr>
              <a:spcBef>
                <a:spcPts val="800"/>
              </a:spcBef>
              <a:defRPr sz="1200">
                <a:solidFill>
                  <a:srgbClr val="4B5160"/>
                </a:solidFill>
              </a:defRPr>
            </a:pPr>
            <a:r>
              <a:t>Soft-launch unpromoted public web links in single regional states (e.g. Karnataka). Monitor organic check traffic, tracking SLA processing speeds and user-cancellation rates before global launch.</a:t>
            </a:r>
          </a:p>
        </p:txBody>
      </p:sp>
      <p:sp>
        <p:nvSpPr>
          <p:cNvPr id="8" name="Rounded Rectangle 7"/>
          <p:cNvSpPr/>
          <p:nvPr/>
        </p:nvSpPr>
        <p:spPr>
          <a:xfrm>
            <a:off x="8046720" y="1645920"/>
            <a:ext cx="338328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1737360"/>
            <a:ext cx="3200400" cy="4206240"/>
          </a:xfrm>
          <a:prstGeom prst="rect">
            <a:avLst/>
          </a:prstGeom>
          <a:noFill/>
        </p:spPr>
        <p:txBody>
          <a:bodyPr wrap="square">
            <a:spAutoFit/>
          </a:bodyPr>
          <a:lstStyle/>
          <a:p>
            <a:pPr>
              <a:defRPr b="1" sz="1200">
                <a:solidFill>
                  <a:srgbClr val="C57A11"/>
                </a:solidFill>
              </a:defRPr>
            </a:pPr>
            <a:r>
              <a:t>A/B TESTING &amp; VALIDATION</a:t>
            </a:r>
          </a:p>
          <a:p>
            <a:pPr>
              <a:spcBef>
                <a:spcPts val="1200"/>
              </a:spcBef>
              <a:defRPr b="1" sz="1300">
                <a:solidFill>
                  <a:srgbClr val="111318"/>
                </a:solidFill>
              </a:defRPr>
            </a:pPr>
            <a:r>
              <a:t>Regulatory Testing Constraints</a:t>
            </a:r>
          </a:p>
          <a:p>
            <a:pPr>
              <a:spcBef>
                <a:spcPts val="800"/>
              </a:spcBef>
              <a:defRPr sz="1200">
                <a:solidFill>
                  <a:srgbClr val="4B5160"/>
                </a:solidFill>
              </a:defRPr>
            </a:pPr>
            <a:r>
              <a:t>Under the DPDP Act, we cannot randomly deny privacy rights to control groups for A/B testing. Instead, compare verified consent rates pre/post rollout across state regions, and test warning copy variants.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RISKS &amp; MITIGATIONS</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Risks &amp; Product Trade-offs</a:t>
            </a:r>
          </a:p>
        </p:txBody>
      </p:sp>
      <p:sp>
        <p:nvSpPr>
          <p:cNvPr id="4" name="TextBox 3"/>
          <p:cNvSpPr txBox="1"/>
          <p:nvPr/>
        </p:nvSpPr>
        <p:spPr>
          <a:xfrm>
            <a:off x="731520" y="1645920"/>
            <a:ext cx="5303520" cy="4389120"/>
          </a:xfrm>
          <a:prstGeom prst="rect">
            <a:avLst/>
          </a:prstGeom>
          <a:noFill/>
        </p:spPr>
        <p:txBody>
          <a:bodyPr wrap="square">
            <a:spAutoFit/>
          </a:bodyPr>
          <a:lstStyle/>
          <a:p>
            <a:pPr>
              <a:defRPr b="1" sz="1200">
                <a:solidFill>
                  <a:srgbClr val="2B5CE0"/>
                </a:solidFill>
              </a:defRPr>
            </a:pPr>
            <a:r>
              <a:t>CORE RISKS &amp; PRODUCT DECISIONS</a:t>
            </a:r>
          </a:p>
          <a:p>
            <a:pPr>
              <a:spcBef>
                <a:spcPts val="1200"/>
              </a:spcBef>
              <a:defRPr sz="1300" b="1">
                <a:solidFill>
                  <a:srgbClr val="111318"/>
                </a:solidFill>
              </a:defRPr>
            </a:pPr>
            <a:r>
              <a:t>• Abuse / False Claims: </a:t>
            </a:r>
            <a:r>
              <a:rPr b="0" sz="1250">
                <a:solidFill>
                  <a:srgbClr val="4B5160"/>
                </a:solidFill>
              </a:rPr>
              <a:t>Bad actors verifying a stranger's number to unlist or change their name. </a:t>
            </a:r>
            <a:r>
              <a:rPr b="1" sz="1250">
                <a:solidFill>
                  <a:srgbClr val="4B5160"/>
                </a:solidFill>
              </a:rPr>
              <a:t>Mitigation: Explicit manual review queue by Trust &amp; Safety (not fully automated) prevents spoofing.</a:t>
            </a:r>
          </a:p>
          <a:p>
            <a:pPr>
              <a:spcBef>
                <a:spcPts val="1200"/>
              </a:spcBef>
              <a:defRPr sz="1300" b="1">
                <a:solidFill>
                  <a:srgbClr val="111318"/>
                </a:solidFill>
              </a:defRPr>
            </a:pPr>
            <a:r>
              <a:t>• Erosion of Spam Database: </a:t>
            </a:r>
            <a:r>
              <a:rPr b="0" sz="1250">
                <a:solidFill>
                  <a:srgbClr val="4B5160"/>
                </a:solidFill>
              </a:rPr>
              <a:t>High volume of erasures could degrade spam accuracy for active users. </a:t>
            </a:r>
            <a:r>
              <a:rPr b="1" sz="1250">
                <a:solidFill>
                  <a:srgbClr val="4B5160"/>
                </a:solidFill>
              </a:rPr>
              <a:t>Mitigation: Clean unlistings still retain spam flag histories without displaying names.</a:t>
            </a:r>
          </a:p>
          <a:p>
            <a:pPr>
              <a:spcBef>
                <a:spcPts val="1200"/>
              </a:spcBef>
              <a:defRPr sz="1300" b="1">
                <a:solidFill>
                  <a:srgbClr val="111318"/>
                </a:solidFill>
              </a:defRPr>
            </a:pPr>
            <a:r>
              <a:t>• onboarding drop-offs: </a:t>
            </a:r>
            <a:r>
              <a:rPr b="0" sz="1250">
                <a:solidFill>
                  <a:srgbClr val="4B5160"/>
                </a:solidFill>
              </a:rPr>
              <a:t>OTP verification requirements create entry friction. </a:t>
            </a:r>
            <a:r>
              <a:rPr b="1" sz="1250">
                <a:solidFill>
                  <a:srgbClr val="4B5160"/>
                </a:solidFill>
              </a:rPr>
              <a:t>Mitigation: Transparent, context-aware intro screen front-loads value before number entry.</a:t>
            </a:r>
          </a:p>
        </p:txBody>
      </p:sp>
      <p:sp>
        <p:nvSpPr>
          <p:cNvPr id="5" name="Rounded Rectangle 4"/>
          <p:cNvSpPr/>
          <p:nvPr/>
        </p:nvSpPr>
        <p:spPr>
          <a:xfrm>
            <a:off x="6400800" y="1645920"/>
            <a:ext cx="502920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828800"/>
            <a:ext cx="4663440" cy="4023360"/>
          </a:xfrm>
          <a:prstGeom prst="rect">
            <a:avLst/>
          </a:prstGeom>
          <a:noFill/>
        </p:spPr>
        <p:txBody>
          <a:bodyPr wrap="square">
            <a:spAutoFit/>
          </a:bodyPr>
          <a:lstStyle/>
          <a:p>
            <a:pPr>
              <a:defRPr b="1" sz="1200">
                <a:solidFill>
                  <a:srgbClr val="1F9D63"/>
                </a:solidFill>
              </a:defRPr>
            </a:pPr>
            <a:r>
              <a:t>WHY THESE TRADE-OFFS ARE ACCEPTABLE</a:t>
            </a:r>
          </a:p>
          <a:p>
            <a:pPr>
              <a:spcBef>
                <a:spcPts val="1200"/>
              </a:spcBef>
              <a:defRPr sz="1300">
                <a:solidFill>
                  <a:srgbClr val="111318"/>
                </a:solidFill>
              </a:defRPr>
            </a:pPr>
            <a:r>
              <a:t>• Regulatory Compliance: Bypassing DPDP 2023 compliance carries severe penalty exposures and litigation risks.</a:t>
            </a:r>
          </a:p>
          <a:p>
            <a:pPr>
              <a:spcBef>
                <a:spcPts val="1200"/>
              </a:spcBef>
              <a:defRPr sz="1300">
                <a:solidFill>
                  <a:srgbClr val="111318"/>
                </a:solidFill>
              </a:defRPr>
            </a:pPr>
            <a:r>
              <a:t>• Trust Moat: Building long-term public trust outweighs short-term, unconsented database volume gains.</a:t>
            </a:r>
          </a:p>
          <a:p>
            <a:pPr>
              <a:spcBef>
                <a:spcPts val="1200"/>
              </a:spcBef>
              <a:defRPr sz="1300">
                <a:solidFill>
                  <a:srgbClr val="111318"/>
                </a:solidFill>
              </a:defRPr>
            </a:pPr>
            <a:r>
              <a:t>• Future Conversion: Demonstrating extreme privacy control converts skeptical non-users into future active customers.</a:t>
            </a:r>
          </a:p>
          <a:p>
            <a:pPr>
              <a:spcBef>
                <a:spcPts val="1200"/>
              </a:spcBef>
              <a:defRPr sz="1300">
                <a:solidFill>
                  <a:srgbClr val="111318"/>
                </a:solidFill>
              </a:defRPr>
            </a:pPr>
            <a:r>
              <a:t>• Balanced Protection: Erasure unlists public display names but preserves behind-the-scenes spam block metrics.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