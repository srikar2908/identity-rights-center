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2B5C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9144000" cy="457200"/>
          </a:xfrm>
          <a:prstGeom prst="rect">
            <a:avLst/>
          </a:prstGeom>
          <a:noFill/>
        </p:spPr>
        <p:txBody>
          <a:bodyPr wrap="none">
            <a:spAutoFit/>
          </a:bodyPr>
          <a:lstStyle/>
          <a:p>
            <a:pPr>
              <a:defRPr sz="1200" b="1">
                <a:solidFill>
                  <a:srgbClr val="2B5CE0"/>
                </a:solidFill>
                <a:latin typeface="Inter"/>
              </a:defRPr>
            </a:pPr>
            <a:r>
              <a:t>TRUECALLER  •  PM PRESENTATION</a:t>
            </a:r>
          </a:p>
        </p:txBody>
      </p:sp>
      <p:sp>
        <p:nvSpPr>
          <p:cNvPr id="4" name="TextBox 3"/>
          <p:cNvSpPr txBox="1"/>
          <p:nvPr/>
        </p:nvSpPr>
        <p:spPr>
          <a:xfrm>
            <a:off x="914400" y="2011680"/>
            <a:ext cx="5943600" cy="1097280"/>
          </a:xfrm>
          <a:prstGeom prst="rect">
            <a:avLst/>
          </a:prstGeom>
          <a:noFill/>
        </p:spPr>
        <p:txBody>
          <a:bodyPr wrap="square">
            <a:spAutoFit/>
          </a:bodyPr>
          <a:lstStyle/>
          <a:p>
            <a:pPr>
              <a:defRPr sz="4400" b="1">
                <a:solidFill>
                  <a:srgbClr val="111318"/>
                </a:solidFill>
                <a:latin typeface="Inter"/>
              </a:defRPr>
            </a:pPr>
            <a:r>
              <a:t>Identity Rights Center</a:t>
            </a:r>
          </a:p>
        </p:txBody>
      </p:sp>
      <p:sp>
        <p:nvSpPr>
          <p:cNvPr id="5" name="TextBox 4"/>
          <p:cNvSpPr txBox="1"/>
          <p:nvPr/>
        </p:nvSpPr>
        <p:spPr>
          <a:xfrm>
            <a:off x="914400" y="3017520"/>
            <a:ext cx="5943600" cy="1097280"/>
          </a:xfrm>
          <a:prstGeom prst="rect">
            <a:avLst/>
          </a:prstGeom>
          <a:noFill/>
        </p:spPr>
        <p:txBody>
          <a:bodyPr wrap="square">
            <a:spAutoFit/>
          </a:bodyPr>
          <a:lstStyle/>
          <a:p>
            <a:pPr>
              <a:defRPr sz="2000">
                <a:solidFill>
                  <a:srgbClr val="4B5160"/>
                </a:solidFill>
                <a:latin typeface="Inter"/>
              </a:defRPr>
            </a:pPr>
            <a:r>
              <a:t>Designing privacy rights for people who never signed up.</a:t>
            </a:r>
          </a:p>
        </p:txBody>
      </p:sp>
      <p:sp>
        <p:nvSpPr>
          <p:cNvPr id="6" name="TextBox 5"/>
          <p:cNvSpPr txBox="1"/>
          <p:nvPr/>
        </p:nvSpPr>
        <p:spPr>
          <a:xfrm>
            <a:off x="914400" y="4114800"/>
            <a:ext cx="5943600" cy="1645920"/>
          </a:xfrm>
          <a:prstGeom prst="rect">
            <a:avLst/>
          </a:prstGeom>
          <a:noFill/>
        </p:spPr>
        <p:txBody>
          <a:bodyPr wrap="square">
            <a:spAutoFit/>
          </a:bodyPr>
          <a:lstStyle/>
          <a:p>
            <a:pPr>
              <a:defRPr sz="1100" b="1">
                <a:solidFill>
                  <a:srgbClr val="2B5CE0"/>
                </a:solidFill>
                <a:latin typeface="Inter"/>
              </a:defRPr>
            </a:pPr>
            <a:r>
              <a:t>PRODUCT THESIS</a:t>
            </a:r>
          </a:p>
          <a:p>
            <a:pPr>
              <a:spcBef>
                <a:spcPts val="600"/>
              </a:spcBef>
              <a:defRPr sz="1400" b="1">
                <a:solidFill>
                  <a:srgbClr val="111318"/>
                </a:solidFill>
                <a:latin typeface="Inter"/>
              </a:defRPr>
            </a:pPr>
            <a:r>
              <a:t>Establishing trust-centric data agency under India's DPDP Act 2023 to preserve caller ID coverage by giving non-users self-serve control over their listed identities.</a:t>
            </a:r>
          </a:p>
        </p:txBody>
      </p:sp>
      <p:pic>
        <p:nvPicPr>
          <p:cNvPr id="7" name="Picture 6" descr="screenshot_profile.png"/>
          <p:cNvPicPr>
            <a:picLocks noChangeAspect="1"/>
          </p:cNvPicPr>
          <p:nvPr/>
        </p:nvPicPr>
        <p:blipFill>
          <a:blip r:embed="rId2"/>
          <a:stretch>
            <a:fillRect/>
          </a:stretch>
        </p:blipFill>
        <p:spPr>
          <a:xfrm>
            <a:off x="7315200" y="1645920"/>
            <a:ext cx="4114800" cy="43891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COMPLIANCE &amp; STRATEGY</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The Consent Asymmetry: User vs. Data Principal</a:t>
            </a:r>
          </a:p>
        </p:txBody>
      </p:sp>
      <p:sp>
        <p:nvSpPr>
          <p:cNvPr id="4" name="Rounded Rectangle 3"/>
          <p:cNvSpPr/>
          <p:nvPr/>
        </p:nvSpPr>
        <p:spPr>
          <a:xfrm>
            <a:off x="731520" y="1645920"/>
            <a:ext cx="10698480" cy="91440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37360"/>
            <a:ext cx="10332720" cy="731520"/>
          </a:xfrm>
          <a:prstGeom prst="rect">
            <a:avLst/>
          </a:prstGeom>
          <a:noFill/>
        </p:spPr>
        <p:txBody>
          <a:bodyPr wrap="square">
            <a:spAutoFit/>
          </a:bodyPr>
          <a:lstStyle/>
          <a:p>
            <a:pPr>
              <a:defRPr sz="1300" b="1">
                <a:solidFill>
                  <a:srgbClr val="111318"/>
                </a:solidFill>
                <a:latin typeface="Inter"/>
              </a:defRPr>
            </a:pPr>
            <a:r>
              <a:t>CORE INSIGHT: The active app user (consenter) and the data principal (subject) are different people. While crowdsourcing aggregates listings, the non-users are left without notices, transparency, or direct recourse.</a:t>
            </a:r>
          </a:p>
        </p:txBody>
      </p:sp>
      <p:sp>
        <p:nvSpPr>
          <p:cNvPr id="6" name="Rounded Rectangle 5"/>
          <p:cNvSpPr/>
          <p:nvPr/>
        </p:nvSpPr>
        <p:spPr>
          <a:xfrm>
            <a:off x="731520" y="2743200"/>
            <a:ext cx="5120640" cy="329184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926080"/>
            <a:ext cx="4754880" cy="2926080"/>
          </a:xfrm>
          <a:prstGeom prst="rect">
            <a:avLst/>
          </a:prstGeom>
          <a:noFill/>
        </p:spPr>
        <p:txBody>
          <a:bodyPr wrap="square">
            <a:spAutoFit/>
          </a:bodyPr>
          <a:lstStyle/>
          <a:p>
            <a:pPr>
              <a:defRPr sz="1200" b="1">
                <a:solidFill>
                  <a:srgbClr val="2B5CE0"/>
                </a:solidFill>
                <a:latin typeface="Inter"/>
              </a:defRPr>
            </a:pPr>
            <a:r>
              <a:t>ACTIVE USER SYNC (CONSENTER)</a:t>
            </a:r>
          </a:p>
          <a:p>
            <a:pPr>
              <a:spcBef>
                <a:spcPts val="1200"/>
              </a:spcBef>
              <a:defRPr sz="1300">
                <a:solidFill>
                  <a:srgbClr val="111318"/>
                </a:solidFill>
                <a:latin typeface="Inter"/>
              </a:defRPr>
            </a:pPr>
            <a:r>
              <a:t>• Uploads address books to unlock caller ID lookup.</a:t>
            </a:r>
          </a:p>
          <a:p>
            <a:pPr>
              <a:spcBef>
                <a:spcPts val="1200"/>
              </a:spcBef>
              <a:defRPr sz="1300">
                <a:solidFill>
                  <a:srgbClr val="111318"/>
                </a:solidFill>
                <a:latin typeface="Inter"/>
              </a:defRPr>
            </a:pPr>
            <a:r>
              <a:t>• Consents only for their own data processing.</a:t>
            </a:r>
          </a:p>
          <a:p>
            <a:pPr>
              <a:spcBef>
                <a:spcPts val="1200"/>
              </a:spcBef>
              <a:defRPr sz="1300">
                <a:solidFill>
                  <a:srgbClr val="111318"/>
                </a:solidFill>
                <a:latin typeface="Inter"/>
              </a:defRPr>
            </a:pPr>
            <a:r>
              <a:t>• Shares third-party numbers, mapping names and spam flags silently.</a:t>
            </a:r>
          </a:p>
        </p:txBody>
      </p:sp>
      <p:sp>
        <p:nvSpPr>
          <p:cNvPr id="8" name="Rounded Rectangle 7"/>
          <p:cNvSpPr/>
          <p:nvPr/>
        </p:nvSpPr>
        <p:spPr>
          <a:xfrm>
            <a:off x="6217920" y="2743200"/>
            <a:ext cx="5212080" cy="329184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2926080"/>
            <a:ext cx="4846320" cy="2926080"/>
          </a:xfrm>
          <a:prstGeom prst="rect">
            <a:avLst/>
          </a:prstGeom>
          <a:noFill/>
        </p:spPr>
        <p:txBody>
          <a:bodyPr wrap="square">
            <a:spAutoFit/>
          </a:bodyPr>
          <a:lstStyle/>
          <a:p>
            <a:pPr>
              <a:defRPr sz="1200" b="1">
                <a:solidFill>
                  <a:srgbClr val="D33B3B"/>
                </a:solidFill>
                <a:latin typeface="Inter"/>
              </a:defRPr>
            </a:pPr>
            <a:r>
              <a:t>COMPLIANCE &amp; PRODUCT ASSUMPTIONS</a:t>
            </a:r>
          </a:p>
          <a:p>
            <a:pPr>
              <a:spcBef>
                <a:spcPts val="1200"/>
              </a:spcBef>
              <a:defRPr sz="1300">
                <a:solidFill>
                  <a:srgbClr val="111318"/>
                </a:solidFill>
                <a:latin typeface="Inter"/>
              </a:defRPr>
            </a:pPr>
            <a:r>
              <a:t>• DPDP Access &amp; Correction Rights: Data subjects must have accessible pathways to check and correct directory inaccuracies.</a:t>
            </a:r>
          </a:p>
          <a:p>
            <a:pPr>
              <a:spcBef>
                <a:spcPts val="1200"/>
              </a:spcBef>
              <a:defRPr sz="1300">
                <a:solidFill>
                  <a:srgbClr val="111318"/>
                </a:solidFill>
                <a:latin typeface="Inter"/>
              </a:defRPr>
            </a:pPr>
            <a:r>
              <a:t>• Purpose Limitation: Crowdsourced contact listings should not bypass reasonable erasure requests by owners.</a:t>
            </a:r>
          </a:p>
          <a:p>
            <a:pPr>
              <a:spcBef>
                <a:spcPts val="1200"/>
              </a:spcBef>
              <a:defRPr sz="1300">
                <a:solidFill>
                  <a:srgbClr val="111318"/>
                </a:solidFill>
                <a:latin typeface="Inter"/>
              </a:defRPr>
            </a:pPr>
            <a:r>
              <a:t>• Strategic Trust Advantage: Proactively offering agency avoids litigation risks and converts skeptics to active users.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TARGET AUDIENCE</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User Persona: Rekha, the Non-User Data Subject</a:t>
            </a:r>
          </a:p>
        </p:txBody>
      </p:sp>
      <p:sp>
        <p:nvSpPr>
          <p:cNvPr id="4" name="Rounded Rectangle 3"/>
          <p:cNvSpPr/>
          <p:nvPr/>
        </p:nvSpPr>
        <p:spPr>
          <a:xfrm>
            <a:off x="731520" y="1645920"/>
            <a:ext cx="411480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3749039" cy="4023360"/>
          </a:xfrm>
          <a:prstGeom prst="rect">
            <a:avLst/>
          </a:prstGeom>
          <a:noFill/>
        </p:spPr>
        <p:txBody>
          <a:bodyPr wrap="square">
            <a:spAutoFit/>
          </a:bodyPr>
          <a:lstStyle/>
          <a:p>
            <a:pPr>
              <a:defRPr sz="1600" b="1">
                <a:solidFill>
                  <a:srgbClr val="111318"/>
                </a:solidFill>
              </a:defRPr>
            </a:pPr>
            <a:r>
              <a:t>REKHA MENON, 42</a:t>
            </a:r>
          </a:p>
          <a:p>
            <a:pPr>
              <a:spcBef>
                <a:spcPts val="400"/>
              </a:spcBef>
              <a:defRPr sz="1200" b="1">
                <a:solidFill>
                  <a:srgbClr val="2B5CE0"/>
                </a:solidFill>
              </a:defRPr>
            </a:pPr>
            <a:r>
              <a:t>Operations Manager  •  Non-User</a:t>
            </a:r>
          </a:p>
          <a:p>
            <a:pPr>
              <a:spcBef>
                <a:spcPts val="1600"/>
              </a:spcBef>
              <a:defRPr sz="1250">
                <a:solidFill>
                  <a:srgbClr val="4B5160"/>
                </a:solidFill>
              </a:defRPr>
            </a:pPr>
            <a:r>
              <a:t>CONTEXT &amp; TRIGGER:</a:t>
            </a:r>
            <a:br/>
            <a:r>
              <a:t>A business contact tells Rekha that her calls are popping up as "Spam" or a misspelled name tag on their handset caller ID, directly impacting operational communications and her reputation.</a:t>
            </a:r>
          </a:p>
          <a:p>
            <a:pPr>
              <a:spcBef>
                <a:spcPts val="1600"/>
              </a:spcBef>
              <a:defRPr sz="1250" b="1">
                <a:solidFill>
                  <a:srgbClr val="111318"/>
                </a:solidFill>
              </a:defRPr>
            </a:pPr>
            <a:r>
              <a:t>JOBS TO BE DONE:</a:t>
            </a:r>
            <a:br/>
            <a:r>
              <a:t>"When my phone number is identified, I want to control the displayed details so that I can maintain my professional reputation and privacy."</a:t>
            </a:r>
          </a:p>
        </p:txBody>
      </p:sp>
      <p:sp>
        <p:nvSpPr>
          <p:cNvPr id="6" name="Rounded Rectangle 5"/>
          <p:cNvSpPr/>
          <p:nvPr/>
        </p:nvSpPr>
        <p:spPr>
          <a:xfrm>
            <a:off x="5120640" y="1645920"/>
            <a:ext cx="6309360" cy="43891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0" y="1828800"/>
            <a:ext cx="5943600" cy="4023360"/>
          </a:xfrm>
          <a:prstGeom prst="rect">
            <a:avLst/>
          </a:prstGeom>
          <a:noFill/>
        </p:spPr>
        <p:txBody>
          <a:bodyPr wrap="square">
            <a:spAutoFit/>
          </a:bodyPr>
          <a:lstStyle/>
          <a:p>
            <a:pPr>
              <a:defRPr sz="1300" b="1">
                <a:solidFill>
                  <a:srgbClr val="2B5CE0"/>
                </a:solidFill>
              </a:defRPr>
            </a:pPr>
            <a:r>
              <a:t>TOP 3 CONCRETE PAIN POINTS</a:t>
            </a:r>
          </a:p>
          <a:p>
            <a:pPr>
              <a:spcBef>
                <a:spcPts val="1400"/>
              </a:spcBef>
              <a:defRPr sz="1350" b="1">
                <a:solidFill>
                  <a:srgbClr val="111318"/>
                </a:solidFill>
              </a:defRPr>
            </a:pPr>
            <a:r>
              <a:t>1. Zero Notice of Exposure</a:t>
            </a:r>
          </a:p>
          <a:p>
            <a:pPr>
              <a:spcBef>
                <a:spcPts val="200"/>
              </a:spcBef>
              <a:defRPr sz="1200">
                <a:solidFill>
                  <a:srgbClr val="4B5160"/>
                </a:solidFill>
              </a:defRPr>
            </a:pPr>
            <a:r>
              <a:t>No direct notifications are dispatched when crowdsourced contact lists list their details on search directories.</a:t>
            </a:r>
          </a:p>
          <a:p>
            <a:pPr>
              <a:spcBef>
                <a:spcPts val="1400"/>
              </a:spcBef>
              <a:defRPr sz="1350" b="1">
                <a:solidFill>
                  <a:srgbClr val="111318"/>
                </a:solidFill>
              </a:defRPr>
            </a:pPr>
            <a:r>
              <a:t>2. Hidden Recourse Pathways</a:t>
            </a:r>
          </a:p>
          <a:p>
            <a:pPr>
              <a:spcBef>
                <a:spcPts val="200"/>
              </a:spcBef>
              <a:defRPr sz="1200">
                <a:solidFill>
                  <a:srgbClr val="4B5160"/>
                </a:solidFill>
              </a:defRPr>
            </a:pPr>
            <a:r>
              <a:t>Opt-out links are historically buried, requiring manual grievance ticketing rather than self-serve panels.</a:t>
            </a:r>
          </a:p>
          <a:p>
            <a:pPr>
              <a:spcBef>
                <a:spcPts val="1400"/>
              </a:spcBef>
              <a:defRPr sz="1350" b="1">
                <a:solidFill>
                  <a:srgbClr val="111318"/>
                </a:solidFill>
              </a:defRPr>
            </a:pPr>
            <a:r>
              <a:t>3. Opaque Data Provenance</a:t>
            </a:r>
          </a:p>
          <a:p>
            <a:pPr>
              <a:spcBef>
                <a:spcPts val="200"/>
              </a:spcBef>
              <a:defRPr sz="1200">
                <a:solidFill>
                  <a:srgbClr val="4B5160"/>
                </a:solidFill>
              </a:defRPr>
            </a:pPr>
            <a:r>
              <a:t>Subjects cannot discover where directory data comes from or track how many syncs contribute to spam tags.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EXPERIENCE MAPPING</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The Current Journey: Friction &amp; Recourse Gaps</a:t>
            </a:r>
          </a:p>
        </p:txBody>
      </p:sp>
      <p:sp>
        <p:nvSpPr>
          <p:cNvPr id="4" name="Rounded Rectangle 3"/>
          <p:cNvSpPr/>
          <p:nvPr/>
        </p:nvSpPr>
        <p:spPr>
          <a:xfrm>
            <a:off x="731520" y="2011680"/>
            <a:ext cx="1645920" cy="219456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103120"/>
            <a:ext cx="1554480" cy="2011680"/>
          </a:xfrm>
          <a:prstGeom prst="rect">
            <a:avLst/>
          </a:prstGeom>
          <a:noFill/>
        </p:spPr>
        <p:txBody>
          <a:bodyPr wrap="square">
            <a:spAutoFit/>
          </a:bodyPr>
          <a:lstStyle/>
          <a:p>
            <a:pPr>
              <a:defRPr sz="1400" b="1">
                <a:solidFill>
                  <a:srgbClr val="111318"/>
                </a:solidFill>
              </a:defRPr>
            </a:pPr>
            <a:r>
              <a:t>01</a:t>
            </a:r>
          </a:p>
          <a:p>
            <a:pPr>
              <a:spcBef>
                <a:spcPts val="800"/>
              </a:spcBef>
              <a:defRPr sz="1300" b="1">
                <a:solidFill>
                  <a:srgbClr val="111318"/>
                </a:solidFill>
              </a:defRPr>
            </a:pPr>
            <a:r>
              <a:t>Data Contributed</a:t>
            </a:r>
          </a:p>
          <a:p>
            <a:pPr>
              <a:spcBef>
                <a:spcPts val="800"/>
              </a:spcBef>
              <a:defRPr sz="1100">
                <a:solidFill>
                  <a:srgbClr val="4B5160"/>
                </a:solidFill>
              </a:defRPr>
            </a:pPr>
            <a:r>
              <a:t>Contacts synced silently</a:t>
            </a:r>
          </a:p>
        </p:txBody>
      </p:sp>
      <p:sp>
        <p:nvSpPr>
          <p:cNvPr id="6" name="Right Arrow 5"/>
          <p:cNvSpPr/>
          <p:nvPr/>
        </p:nvSpPr>
        <p:spPr>
          <a:xfrm>
            <a:off x="2395728" y="2926080"/>
            <a:ext cx="146304" cy="365760"/>
          </a:xfrm>
          <a:prstGeom prst="rightArrow">
            <a:avLst/>
          </a:prstGeom>
          <a:solidFill>
            <a:srgbClr val="E4E7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560320" y="2011680"/>
            <a:ext cx="1645920" cy="219456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06040" y="2103120"/>
            <a:ext cx="1554480" cy="2011680"/>
          </a:xfrm>
          <a:prstGeom prst="rect">
            <a:avLst/>
          </a:prstGeom>
          <a:noFill/>
        </p:spPr>
        <p:txBody>
          <a:bodyPr wrap="square">
            <a:spAutoFit/>
          </a:bodyPr>
          <a:lstStyle/>
          <a:p>
            <a:pPr>
              <a:defRPr sz="1400" b="1">
                <a:solidFill>
                  <a:srgbClr val="111318"/>
                </a:solidFill>
              </a:defRPr>
            </a:pPr>
            <a:r>
              <a:t>02</a:t>
            </a:r>
          </a:p>
          <a:p>
            <a:pPr>
              <a:spcBef>
                <a:spcPts val="800"/>
              </a:spcBef>
              <a:defRPr sz="1300" b="1">
                <a:solidFill>
                  <a:srgbClr val="111318"/>
                </a:solidFill>
              </a:defRPr>
            </a:pPr>
            <a:r>
              <a:t>Identity Inferred</a:t>
            </a:r>
          </a:p>
          <a:p>
            <a:pPr>
              <a:spcBef>
                <a:spcPts val="800"/>
              </a:spcBef>
              <a:defRPr sz="1100">
                <a:solidFill>
                  <a:srgbClr val="4B5160"/>
                </a:solidFill>
              </a:defRPr>
            </a:pPr>
            <a:r>
              <a:t>Listing generated</a:t>
            </a:r>
          </a:p>
        </p:txBody>
      </p:sp>
      <p:sp>
        <p:nvSpPr>
          <p:cNvPr id="9" name="Right Arrow 8"/>
          <p:cNvSpPr/>
          <p:nvPr/>
        </p:nvSpPr>
        <p:spPr>
          <a:xfrm>
            <a:off x="4224528" y="2926080"/>
            <a:ext cx="146304" cy="365760"/>
          </a:xfrm>
          <a:prstGeom prst="rightArrow">
            <a:avLst/>
          </a:prstGeom>
          <a:solidFill>
            <a:srgbClr val="E4E7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89120" y="2011680"/>
            <a:ext cx="1645920" cy="219456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103120"/>
            <a:ext cx="1554480" cy="2011680"/>
          </a:xfrm>
          <a:prstGeom prst="rect">
            <a:avLst/>
          </a:prstGeom>
          <a:noFill/>
        </p:spPr>
        <p:txBody>
          <a:bodyPr wrap="square">
            <a:spAutoFit/>
          </a:bodyPr>
          <a:lstStyle/>
          <a:p>
            <a:pPr>
              <a:defRPr sz="1400" b="1">
                <a:solidFill>
                  <a:srgbClr val="111318"/>
                </a:solidFill>
              </a:defRPr>
            </a:pPr>
            <a:r>
              <a:t>03</a:t>
            </a:r>
          </a:p>
          <a:p>
            <a:pPr>
              <a:spcBef>
                <a:spcPts val="800"/>
              </a:spcBef>
              <a:defRPr sz="1300" b="1">
                <a:solidFill>
                  <a:srgbClr val="111318"/>
                </a:solidFill>
              </a:defRPr>
            </a:pPr>
            <a:r>
              <a:t>Caller ID Surfaced</a:t>
            </a:r>
          </a:p>
          <a:p>
            <a:pPr>
              <a:spcBef>
                <a:spcPts val="800"/>
              </a:spcBef>
              <a:defRPr sz="1100">
                <a:solidFill>
                  <a:srgbClr val="4B5160"/>
                </a:solidFill>
              </a:defRPr>
            </a:pPr>
            <a:r>
              <a:t>Strangers see tags</a:t>
            </a:r>
          </a:p>
        </p:txBody>
      </p:sp>
      <p:sp>
        <p:nvSpPr>
          <p:cNvPr id="12" name="Right Arrow 11"/>
          <p:cNvSpPr/>
          <p:nvPr/>
        </p:nvSpPr>
        <p:spPr>
          <a:xfrm>
            <a:off x="6053328" y="2926080"/>
            <a:ext cx="146304" cy="365760"/>
          </a:xfrm>
          <a:prstGeom prst="rightArrow">
            <a:avLst/>
          </a:prstGeom>
          <a:solidFill>
            <a:srgbClr val="E4E7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2011680"/>
            <a:ext cx="1645920" cy="2194560"/>
          </a:xfrm>
          <a:prstGeom prst="roundRect">
            <a:avLst/>
          </a:prstGeom>
          <a:solidFill>
            <a:srgbClr val="C57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2103120"/>
            <a:ext cx="1554480" cy="2011680"/>
          </a:xfrm>
          <a:prstGeom prst="rect">
            <a:avLst/>
          </a:prstGeom>
          <a:noFill/>
        </p:spPr>
        <p:txBody>
          <a:bodyPr wrap="square">
            <a:spAutoFit/>
          </a:bodyPr>
          <a:lstStyle/>
          <a:p>
            <a:pPr>
              <a:defRPr sz="1400" b="1">
                <a:solidFill>
                  <a:srgbClr val="FFFFFF"/>
                </a:solidFill>
              </a:defRPr>
            </a:pPr>
            <a:r>
              <a:t>04</a:t>
            </a:r>
          </a:p>
          <a:p>
            <a:pPr>
              <a:spcBef>
                <a:spcPts val="800"/>
              </a:spcBef>
              <a:defRPr sz="1300" b="1">
                <a:solidFill>
                  <a:srgbClr val="FFFFFF"/>
                </a:solidFill>
              </a:defRPr>
            </a:pPr>
            <a:r>
              <a:t>Subject Discovers</a:t>
            </a:r>
          </a:p>
          <a:p>
            <a:pPr>
              <a:spcBef>
                <a:spcPts val="800"/>
              </a:spcBef>
              <a:defRPr sz="1100">
                <a:solidFill>
                  <a:srgbClr val="FFFFFF"/>
                </a:solidFill>
              </a:defRPr>
            </a:pPr>
            <a:r>
              <a:t>Learns indirectly</a:t>
            </a:r>
          </a:p>
        </p:txBody>
      </p:sp>
      <p:sp>
        <p:nvSpPr>
          <p:cNvPr id="15" name="Right Arrow 14"/>
          <p:cNvSpPr/>
          <p:nvPr/>
        </p:nvSpPr>
        <p:spPr>
          <a:xfrm>
            <a:off x="7882128" y="2926080"/>
            <a:ext cx="146304" cy="365760"/>
          </a:xfrm>
          <a:prstGeom prst="rightArrow">
            <a:avLst/>
          </a:prstGeom>
          <a:solidFill>
            <a:srgbClr val="E4E7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46720" y="2011680"/>
            <a:ext cx="1645920" cy="2194560"/>
          </a:xfrm>
          <a:prstGeom prst="roundRect">
            <a:avLst/>
          </a:prstGeom>
          <a:solidFill>
            <a:srgbClr val="D3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2103120"/>
            <a:ext cx="1554480" cy="2011680"/>
          </a:xfrm>
          <a:prstGeom prst="rect">
            <a:avLst/>
          </a:prstGeom>
          <a:noFill/>
        </p:spPr>
        <p:txBody>
          <a:bodyPr wrap="square">
            <a:spAutoFit/>
          </a:bodyPr>
          <a:lstStyle/>
          <a:p>
            <a:pPr>
              <a:defRPr sz="1400" b="1">
                <a:solidFill>
                  <a:srgbClr val="FFFFFF"/>
                </a:solidFill>
              </a:defRPr>
            </a:pPr>
            <a:r>
              <a:t>05</a:t>
            </a:r>
          </a:p>
          <a:p>
            <a:pPr>
              <a:spcBef>
                <a:spcPts val="800"/>
              </a:spcBef>
              <a:defRPr sz="1300" b="1">
                <a:solidFill>
                  <a:srgbClr val="FFFFFF"/>
                </a:solidFill>
              </a:defRPr>
            </a:pPr>
            <a:r>
              <a:t>Recourse Search</a:t>
            </a:r>
          </a:p>
          <a:p>
            <a:pPr>
              <a:spcBef>
                <a:spcPts val="800"/>
              </a:spcBef>
              <a:defRPr sz="1100">
                <a:solidFill>
                  <a:srgbClr val="FFFFFF"/>
                </a:solidFill>
              </a:defRPr>
            </a:pPr>
            <a:r>
              <a:t>Buried opt-out forms</a:t>
            </a:r>
          </a:p>
        </p:txBody>
      </p:sp>
      <p:sp>
        <p:nvSpPr>
          <p:cNvPr id="18" name="Right Arrow 17"/>
          <p:cNvSpPr/>
          <p:nvPr/>
        </p:nvSpPr>
        <p:spPr>
          <a:xfrm>
            <a:off x="9710928" y="2926080"/>
            <a:ext cx="146304" cy="365760"/>
          </a:xfrm>
          <a:prstGeom prst="rightArrow">
            <a:avLst/>
          </a:prstGeom>
          <a:solidFill>
            <a:srgbClr val="E4E7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875520" y="2011680"/>
            <a:ext cx="1645920" cy="2194560"/>
          </a:xfrm>
          <a:prstGeom prst="roundRect">
            <a:avLst/>
          </a:prstGeom>
          <a:solidFill>
            <a:srgbClr val="D3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21240" y="2103120"/>
            <a:ext cx="1554480" cy="2011680"/>
          </a:xfrm>
          <a:prstGeom prst="rect">
            <a:avLst/>
          </a:prstGeom>
          <a:noFill/>
        </p:spPr>
        <p:txBody>
          <a:bodyPr wrap="square">
            <a:spAutoFit/>
          </a:bodyPr>
          <a:lstStyle/>
          <a:p>
            <a:pPr>
              <a:defRPr sz="1400" b="1">
                <a:solidFill>
                  <a:srgbClr val="FFFFFF"/>
                </a:solidFill>
              </a:defRPr>
            </a:pPr>
            <a:r>
              <a:t>06</a:t>
            </a:r>
          </a:p>
          <a:p>
            <a:pPr>
              <a:spcBef>
                <a:spcPts val="800"/>
              </a:spcBef>
              <a:defRPr sz="1300" b="1">
                <a:solidFill>
                  <a:srgbClr val="FFFFFF"/>
                </a:solidFill>
              </a:defRPr>
            </a:pPr>
            <a:r>
              <a:t>Unclear Status</a:t>
            </a:r>
          </a:p>
          <a:p>
            <a:pPr>
              <a:spcBef>
                <a:spcPts val="800"/>
              </a:spcBef>
              <a:defRPr sz="1100">
                <a:solidFill>
                  <a:srgbClr val="FFFFFF"/>
                </a:solidFill>
              </a:defRPr>
            </a:pPr>
            <a:r>
              <a:t>Anxious ticket delays</a:t>
            </a:r>
          </a:p>
        </p:txBody>
      </p:sp>
      <p:sp>
        <p:nvSpPr>
          <p:cNvPr id="21" name="TextBox 20"/>
          <p:cNvSpPr txBox="1"/>
          <p:nvPr/>
        </p:nvSpPr>
        <p:spPr>
          <a:xfrm>
            <a:off x="731520" y="4572000"/>
            <a:ext cx="10698480" cy="548640"/>
          </a:xfrm>
          <a:prstGeom prst="rect">
            <a:avLst/>
          </a:prstGeom>
          <a:noFill/>
        </p:spPr>
        <p:txBody>
          <a:bodyPr wrap="square">
            <a:spAutoFit/>
          </a:bodyPr>
          <a:lstStyle/>
          <a:p>
            <a:pPr>
              <a:defRPr sz="1100" b="1">
                <a:solidFill>
                  <a:srgbClr val="D33B3B"/>
                </a:solidFill>
              </a:defRPr>
            </a:pPr>
            <a:r>
              <a:t>CRITICAL FRICTION POINTS:</a:t>
            </a:r>
            <a:r>
              <a:rPr b="0">
                <a:solidFill>
                  <a:srgbClr val="4B5160"/>
                </a:solidFill>
              </a:rPr>
              <a:t> Discovery happens via embarrassing third-party alerts. Seeking recourse is blocked by buried opt-out screens. Zero visibility on review updates creates user anxiety.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PROPOSED PRODUCT</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Interactive Prototype Flow: Verify → Understand → Control → Track</a:t>
            </a:r>
          </a:p>
        </p:txBody>
      </p:sp>
      <p:sp>
        <p:nvSpPr>
          <p:cNvPr id="4" name="Rounded Rectangle 3"/>
          <p:cNvSpPr/>
          <p:nvPr/>
        </p:nvSpPr>
        <p:spPr>
          <a:xfrm>
            <a:off x="694944" y="1609344"/>
            <a:ext cx="2542032" cy="4251960"/>
          </a:xfrm>
          <a:prstGeom prst="roundRect">
            <a:avLst/>
          </a:prstGeom>
          <a:solidFill>
            <a:srgbClr val="F5F6F8"/>
          </a:solidFill>
          <a:ln w="19050">
            <a:solidFill>
              <a:srgbClr val="E4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reenshot_landing.png"/>
          <p:cNvPicPr>
            <a:picLocks noChangeAspect="1"/>
          </p:cNvPicPr>
          <p:nvPr/>
        </p:nvPicPr>
        <p:blipFill>
          <a:blip r:embed="rId2"/>
          <a:stretch>
            <a:fillRect/>
          </a:stretch>
        </p:blipFill>
        <p:spPr>
          <a:xfrm>
            <a:off x="731520" y="1645920"/>
            <a:ext cx="2468880" cy="3291840"/>
          </a:xfrm>
          <a:prstGeom prst="rect">
            <a:avLst/>
          </a:prstGeom>
        </p:spPr>
      </p:pic>
      <p:sp>
        <p:nvSpPr>
          <p:cNvPr id="6" name="TextBox 5"/>
          <p:cNvSpPr txBox="1"/>
          <p:nvPr/>
        </p:nvSpPr>
        <p:spPr>
          <a:xfrm>
            <a:off x="731520" y="5010912"/>
            <a:ext cx="2468880" cy="731520"/>
          </a:xfrm>
          <a:prstGeom prst="rect">
            <a:avLst/>
          </a:prstGeom>
          <a:noFill/>
        </p:spPr>
        <p:txBody>
          <a:bodyPr wrap="square">
            <a:spAutoFit/>
          </a:bodyPr>
          <a:lstStyle/>
          <a:p>
            <a:pPr algn="ctr">
              <a:defRPr sz="1200" b="1">
                <a:solidFill>
                  <a:srgbClr val="2B5CE0"/>
                </a:solidFill>
              </a:defRPr>
            </a:pPr>
            <a:r>
              <a:t>1. VERIFY</a:t>
            </a:r>
          </a:p>
          <a:p>
            <a:pPr algn="ctr">
              <a:defRPr sz="1100">
                <a:solidFill>
                  <a:srgbClr val="4B5160"/>
                </a:solidFill>
              </a:defRPr>
            </a:pPr>
            <a:r>
              <a:t>OTP Passcode Sheet</a:t>
            </a:r>
          </a:p>
        </p:txBody>
      </p:sp>
      <p:sp>
        <p:nvSpPr>
          <p:cNvPr id="7" name="Rounded Rectangle 6"/>
          <p:cNvSpPr/>
          <p:nvPr/>
        </p:nvSpPr>
        <p:spPr>
          <a:xfrm>
            <a:off x="3346704" y="1609344"/>
            <a:ext cx="2542032" cy="4251960"/>
          </a:xfrm>
          <a:prstGeom prst="roundRect">
            <a:avLst/>
          </a:prstGeom>
          <a:solidFill>
            <a:srgbClr val="F5F6F8"/>
          </a:solidFill>
          <a:ln w="19050">
            <a:solidFill>
              <a:srgbClr val="E4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shot_sources.png"/>
          <p:cNvPicPr>
            <a:picLocks noChangeAspect="1"/>
          </p:cNvPicPr>
          <p:nvPr/>
        </p:nvPicPr>
        <p:blipFill>
          <a:blip r:embed="rId3"/>
          <a:stretch>
            <a:fillRect/>
          </a:stretch>
        </p:blipFill>
        <p:spPr>
          <a:xfrm>
            <a:off x="3383280" y="1645920"/>
            <a:ext cx="2468880" cy="3291840"/>
          </a:xfrm>
          <a:prstGeom prst="rect">
            <a:avLst/>
          </a:prstGeom>
        </p:spPr>
      </p:pic>
      <p:sp>
        <p:nvSpPr>
          <p:cNvPr id="9" name="TextBox 8"/>
          <p:cNvSpPr txBox="1"/>
          <p:nvPr/>
        </p:nvSpPr>
        <p:spPr>
          <a:xfrm>
            <a:off x="3383280" y="5010912"/>
            <a:ext cx="2468880" cy="731520"/>
          </a:xfrm>
          <a:prstGeom prst="rect">
            <a:avLst/>
          </a:prstGeom>
          <a:noFill/>
        </p:spPr>
        <p:txBody>
          <a:bodyPr wrap="square">
            <a:spAutoFit/>
          </a:bodyPr>
          <a:lstStyle/>
          <a:p>
            <a:pPr algn="ctr">
              <a:defRPr sz="1200" b="1">
                <a:solidFill>
                  <a:srgbClr val="2B5CE0"/>
                </a:solidFill>
              </a:defRPr>
            </a:pPr>
            <a:r>
              <a:t>2. UNDERSTAND</a:t>
            </a:r>
          </a:p>
          <a:p>
            <a:pPr algn="ctr">
              <a:defRPr sz="1100">
                <a:solidFill>
                  <a:srgbClr val="4B5160"/>
                </a:solidFill>
              </a:defRPr>
            </a:pPr>
            <a:r>
              <a:t>Sources &amp; Sync Data</a:t>
            </a:r>
          </a:p>
        </p:txBody>
      </p:sp>
      <p:sp>
        <p:nvSpPr>
          <p:cNvPr id="10" name="Rounded Rectangle 9"/>
          <p:cNvSpPr/>
          <p:nvPr/>
        </p:nvSpPr>
        <p:spPr>
          <a:xfrm>
            <a:off x="5998464" y="1609344"/>
            <a:ext cx="2542032" cy="4251960"/>
          </a:xfrm>
          <a:prstGeom prst="roundRect">
            <a:avLst/>
          </a:prstGeom>
          <a:solidFill>
            <a:srgbClr val="F5F6F8"/>
          </a:solidFill>
          <a:ln w="19050">
            <a:solidFill>
              <a:srgbClr val="E4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shot_profile.png"/>
          <p:cNvPicPr>
            <a:picLocks noChangeAspect="1"/>
          </p:cNvPicPr>
          <p:nvPr/>
        </p:nvPicPr>
        <p:blipFill>
          <a:blip r:embed="rId4"/>
          <a:stretch>
            <a:fillRect/>
          </a:stretch>
        </p:blipFill>
        <p:spPr>
          <a:xfrm>
            <a:off x="6035040" y="1645920"/>
            <a:ext cx="2468880" cy="3291840"/>
          </a:xfrm>
          <a:prstGeom prst="rect">
            <a:avLst/>
          </a:prstGeom>
        </p:spPr>
      </p:pic>
      <p:sp>
        <p:nvSpPr>
          <p:cNvPr id="12" name="TextBox 11"/>
          <p:cNvSpPr txBox="1"/>
          <p:nvPr/>
        </p:nvSpPr>
        <p:spPr>
          <a:xfrm>
            <a:off x="6035040" y="5010912"/>
            <a:ext cx="2468880" cy="731520"/>
          </a:xfrm>
          <a:prstGeom prst="rect">
            <a:avLst/>
          </a:prstGeom>
          <a:noFill/>
        </p:spPr>
        <p:txBody>
          <a:bodyPr wrap="square">
            <a:spAutoFit/>
          </a:bodyPr>
          <a:lstStyle/>
          <a:p>
            <a:pPr algn="ctr">
              <a:defRPr sz="1200" b="1">
                <a:solidFill>
                  <a:srgbClr val="2B5CE0"/>
                </a:solidFill>
              </a:defRPr>
            </a:pPr>
            <a:r>
              <a:t>3. CONTROL</a:t>
            </a:r>
          </a:p>
          <a:p>
            <a:pPr algn="ctr">
              <a:defRPr sz="1100">
                <a:solidFill>
                  <a:srgbClr val="4B5160"/>
                </a:solidFill>
              </a:defRPr>
            </a:pPr>
            <a:r>
              <a:t>Identity Dashboard</a:t>
            </a:r>
          </a:p>
        </p:txBody>
      </p:sp>
      <p:sp>
        <p:nvSpPr>
          <p:cNvPr id="13" name="Rounded Rectangle 12"/>
          <p:cNvSpPr/>
          <p:nvPr/>
        </p:nvSpPr>
        <p:spPr>
          <a:xfrm>
            <a:off x="8650224" y="1609344"/>
            <a:ext cx="2542032" cy="4251960"/>
          </a:xfrm>
          <a:prstGeom prst="roundRect">
            <a:avLst/>
          </a:prstGeom>
          <a:solidFill>
            <a:srgbClr val="F5F6F8"/>
          </a:solidFill>
          <a:ln w="19050">
            <a:solidFill>
              <a:srgbClr val="E4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shot_sources.png"/>
          <p:cNvPicPr>
            <a:picLocks noChangeAspect="1"/>
          </p:cNvPicPr>
          <p:nvPr/>
        </p:nvPicPr>
        <p:blipFill>
          <a:blip r:embed="rId3"/>
          <a:stretch>
            <a:fillRect/>
          </a:stretch>
        </p:blipFill>
        <p:spPr>
          <a:xfrm>
            <a:off x="8686800" y="1645920"/>
            <a:ext cx="2468880" cy="3291840"/>
          </a:xfrm>
          <a:prstGeom prst="rect">
            <a:avLst/>
          </a:prstGeom>
        </p:spPr>
      </p:pic>
      <p:sp>
        <p:nvSpPr>
          <p:cNvPr id="15" name="TextBox 14"/>
          <p:cNvSpPr txBox="1"/>
          <p:nvPr/>
        </p:nvSpPr>
        <p:spPr>
          <a:xfrm>
            <a:off x="8686800" y="5010912"/>
            <a:ext cx="2468880" cy="731520"/>
          </a:xfrm>
          <a:prstGeom prst="rect">
            <a:avLst/>
          </a:prstGeom>
          <a:noFill/>
        </p:spPr>
        <p:txBody>
          <a:bodyPr wrap="square">
            <a:spAutoFit/>
          </a:bodyPr>
          <a:lstStyle/>
          <a:p>
            <a:pPr algn="ctr">
              <a:defRPr sz="1200" b="1">
                <a:solidFill>
                  <a:srgbClr val="2B5CE0"/>
                </a:solidFill>
              </a:defRPr>
            </a:pPr>
            <a:r>
              <a:t>4. TRACK</a:t>
            </a:r>
          </a:p>
          <a:p>
            <a:pPr algn="ctr">
              <a:defRPr sz="1100">
                <a:solidFill>
                  <a:srgbClr val="4B5160"/>
                </a:solidFill>
              </a:defRPr>
            </a:pPr>
            <a:r>
              <a:t>Stepper Steer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PRODUCT SUCCESS METRICS</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Product Success Model: Agency &amp; Privacy Guardrails</a:t>
            </a:r>
          </a:p>
        </p:txBody>
      </p:sp>
      <p:sp>
        <p:nvSpPr>
          <p:cNvPr id="4" name="Rounded Rectangle 3"/>
          <p:cNvSpPr/>
          <p:nvPr/>
        </p:nvSpPr>
        <p:spPr>
          <a:xfrm>
            <a:off x="731520" y="1645920"/>
            <a:ext cx="10698480" cy="109728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37360"/>
            <a:ext cx="10332720" cy="914400"/>
          </a:xfrm>
          <a:prstGeom prst="rect">
            <a:avLst/>
          </a:prstGeom>
          <a:noFill/>
        </p:spPr>
        <p:txBody>
          <a:bodyPr wrap="square">
            <a:spAutoFit/>
          </a:bodyPr>
          <a:lstStyle/>
          <a:p>
            <a:pPr>
              <a:defRPr sz="1200" b="1">
                <a:solidFill>
                  <a:srgbClr val="2B5CE0"/>
                </a:solidFill>
                <a:latin typeface="Inter"/>
              </a:defRPr>
            </a:pPr>
            <a:r>
              <a:t>NORTH STAR METRIC: VERIFIED DATA AGENCY RATE</a:t>
            </a:r>
          </a:p>
          <a:p>
            <a:pPr>
              <a:spcBef>
                <a:spcPts val="400"/>
              </a:spcBef>
              <a:defRPr sz="1250" b="1">
                <a:solidFill>
                  <a:srgbClr val="111318"/>
                </a:solidFill>
              </a:defRPr>
            </a:pPr>
            <a:r>
              <a:t>Definition: % of verified portal visitors who successfully complete their intended rights action (Correction or Erasure).</a:t>
            </a:r>
            <a:br/>
            <a:r>
              <a:t>Formulated to measure successful self-serve agency execution rather than general directory stats.</a:t>
            </a:r>
          </a:p>
        </p:txBody>
      </p:sp>
      <p:sp>
        <p:nvSpPr>
          <p:cNvPr id="6" name="Rounded Rectangle 5"/>
          <p:cNvSpPr/>
          <p:nvPr/>
        </p:nvSpPr>
        <p:spPr>
          <a:xfrm>
            <a:off x="731520" y="2926080"/>
            <a:ext cx="3383280" cy="310896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017520"/>
            <a:ext cx="3200400" cy="2926080"/>
          </a:xfrm>
          <a:prstGeom prst="rect">
            <a:avLst/>
          </a:prstGeom>
          <a:noFill/>
        </p:spPr>
        <p:txBody>
          <a:bodyPr wrap="square">
            <a:spAutoFit/>
          </a:bodyPr>
          <a:lstStyle/>
          <a:p>
            <a:pPr>
              <a:defRPr b="1" sz="1100">
                <a:solidFill>
                  <a:srgbClr val="2B5CE0"/>
                </a:solidFill>
              </a:defRPr>
            </a:pPr>
            <a:r>
              <a:t>SUPPORTING METRICS</a:t>
            </a:r>
          </a:p>
          <a:p>
            <a:pPr>
              <a:spcBef>
                <a:spcPts val="800"/>
              </a:spcBef>
              <a:defRPr sz="1150">
                <a:solidFill>
                  <a:srgbClr val="111318"/>
                </a:solidFill>
              </a:defRPr>
            </a:pPr>
            <a:r>
              <a:t>• OTP Success Rate: Onboarding drop-offs.</a:t>
            </a:r>
          </a:p>
          <a:p>
            <a:pPr>
              <a:spcBef>
                <a:spcPts val="800"/>
              </a:spcBef>
              <a:defRPr sz="1150">
                <a:solidFill>
                  <a:srgbClr val="111318"/>
                </a:solidFill>
              </a:defRPr>
            </a:pPr>
            <a:r>
              <a:t>• Rights Action rate: correction vs erasure.</a:t>
            </a:r>
          </a:p>
          <a:p>
            <a:pPr>
              <a:spcBef>
                <a:spcPts val="800"/>
              </a:spcBef>
              <a:defRPr sz="1150">
                <a:solidFill>
                  <a:srgbClr val="111318"/>
                </a:solidFill>
              </a:defRPr>
            </a:pPr>
            <a:r>
              <a:t>• Median Resolution SLA: Target &lt; 3 days.</a:t>
            </a:r>
          </a:p>
          <a:p>
            <a:pPr>
              <a:spcBef>
                <a:spcPts val="800"/>
              </a:spcBef>
              <a:defRPr sz="1150">
                <a:solidFill>
                  <a:srgbClr val="111318"/>
                </a:solidFill>
              </a:defRPr>
            </a:pPr>
            <a:r>
              <a:t>• Reopen / Repeat Rate: Follow-up complaints.</a:t>
            </a:r>
          </a:p>
        </p:txBody>
      </p:sp>
      <p:sp>
        <p:nvSpPr>
          <p:cNvPr id="8" name="Rounded Rectangle 7"/>
          <p:cNvSpPr/>
          <p:nvPr/>
        </p:nvSpPr>
        <p:spPr>
          <a:xfrm>
            <a:off x="4389120" y="2926080"/>
            <a:ext cx="3383280" cy="310896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3017520"/>
            <a:ext cx="3200400" cy="2926080"/>
          </a:xfrm>
          <a:prstGeom prst="rect">
            <a:avLst/>
          </a:prstGeom>
          <a:noFill/>
        </p:spPr>
        <p:txBody>
          <a:bodyPr wrap="square">
            <a:spAutoFit/>
          </a:bodyPr>
          <a:lstStyle/>
          <a:p>
            <a:pPr>
              <a:defRPr b="1" sz="1100">
                <a:solidFill>
                  <a:srgbClr val="D33B3B"/>
                </a:solidFill>
              </a:defRPr>
            </a:pPr>
            <a:r>
              <a:t>PRIVACY GUARDRAILS</a:t>
            </a:r>
          </a:p>
          <a:p>
            <a:pPr>
              <a:spcBef>
                <a:spcPts val="800"/>
              </a:spcBef>
              <a:defRPr sz="1150">
                <a:solidFill>
                  <a:srgbClr val="111318"/>
                </a:solidFill>
              </a:defRPr>
            </a:pPr>
            <a:r>
              <a:t>• Spam Detection Precision: False positive spam rate change should stay &lt; 0.2% post-erasure.</a:t>
            </a:r>
          </a:p>
          <a:p>
            <a:pPr>
              <a:spcBef>
                <a:spcPts val="800"/>
              </a:spcBef>
              <a:defRPr sz="1150">
                <a:solidFill>
                  <a:srgbClr val="111318"/>
                </a:solidFill>
              </a:defRPr>
            </a:pPr>
            <a:r>
              <a:t>• Fraudulent Claim Rate: Unlisting claim disputes.</a:t>
            </a:r>
          </a:p>
          <a:p>
            <a:pPr>
              <a:spcBef>
                <a:spcPts val="800"/>
              </a:spcBef>
              <a:defRPr sz="1150">
                <a:solidFill>
                  <a:srgbClr val="111318"/>
                </a:solidFill>
              </a:defRPr>
            </a:pPr>
            <a:r>
              <a:t>• Contact Sync permission: Permission opt-in rate by active app uploaders.</a:t>
            </a:r>
          </a:p>
        </p:txBody>
      </p:sp>
      <p:sp>
        <p:nvSpPr>
          <p:cNvPr id="10" name="Rounded Rectangle 9"/>
          <p:cNvSpPr/>
          <p:nvPr/>
        </p:nvSpPr>
        <p:spPr>
          <a:xfrm>
            <a:off x="8046720" y="2926080"/>
            <a:ext cx="3383280" cy="310896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0" y="3017520"/>
            <a:ext cx="3200400" cy="2926080"/>
          </a:xfrm>
          <a:prstGeom prst="rect">
            <a:avLst/>
          </a:prstGeom>
          <a:noFill/>
        </p:spPr>
        <p:txBody>
          <a:bodyPr wrap="square">
            <a:spAutoFit/>
          </a:bodyPr>
          <a:lstStyle/>
          <a:p>
            <a:pPr>
              <a:defRPr b="1" sz="1100">
                <a:solidFill>
                  <a:srgbClr val="1F9D63"/>
                </a:solidFill>
              </a:defRPr>
            </a:pPr>
            <a:r>
              <a:t>90-DAY SUCCESS CRITERIA</a:t>
            </a:r>
          </a:p>
          <a:p>
            <a:pPr>
              <a:spcBef>
                <a:spcPts val="600"/>
              </a:spcBef>
              <a:defRPr sz="1150">
                <a:solidFill>
                  <a:srgbClr val="111318"/>
                </a:solidFill>
              </a:defRPr>
            </a:pPr>
            <a:r>
              <a:t>• Verified Agency Rate: &gt; 75% target.</a:t>
            </a:r>
          </a:p>
          <a:p>
            <a:pPr>
              <a:spcBef>
                <a:spcPts val="600"/>
              </a:spcBef>
              <a:defRPr sz="1150">
                <a:solidFill>
                  <a:srgbClr val="111318"/>
                </a:solidFill>
              </a:defRPr>
            </a:pPr>
            <a:r>
              <a:t>• OTP Success Rate: &gt; 85% target.</a:t>
            </a:r>
          </a:p>
          <a:p>
            <a:pPr>
              <a:spcBef>
                <a:spcPts val="600"/>
              </a:spcBef>
              <a:defRPr sz="1150">
                <a:solidFill>
                  <a:srgbClr val="111318"/>
                </a:solidFill>
              </a:defRPr>
            </a:pPr>
            <a:r>
              <a:t>• Median SLA: &lt; 3 business days target.</a:t>
            </a:r>
          </a:p>
          <a:p>
            <a:pPr>
              <a:spcBef>
                <a:spcPts val="600"/>
              </a:spcBef>
              <a:defRPr sz="1150">
                <a:solidFill>
                  <a:srgbClr val="111318"/>
                </a:solidFill>
              </a:defRPr>
            </a:pPr>
            <a:r>
              <a:t>• Portal CSAT: &gt; 85% positive rating.</a:t>
            </a:r>
          </a:p>
          <a:p>
            <a:pPr>
              <a:spcBef>
                <a:spcPts val="600"/>
              </a:spcBef>
              <a:defRPr sz="1150">
                <a:solidFill>
                  <a:srgbClr val="111318"/>
                </a:solidFill>
              </a:defRPr>
            </a:pPr>
            <a:r>
              <a:t>• Illustrative targets based on soft-launch models.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OPERATIONAL INCIDENT ISOLATION</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Diagnostic Thinking: Isolating a 15% Verification Drop</a:t>
            </a:r>
          </a:p>
        </p:txBody>
      </p:sp>
      <p:sp>
        <p:nvSpPr>
          <p:cNvPr id="4" name="Rounded Rectangle 3"/>
          <p:cNvSpPr/>
          <p:nvPr/>
        </p:nvSpPr>
        <p:spPr>
          <a:xfrm>
            <a:off x="731520" y="2011680"/>
            <a:ext cx="3200400" cy="914400"/>
          </a:xfrm>
          <a:prstGeom prst="roundRect">
            <a:avLst/>
          </a:prstGeom>
          <a:solidFill>
            <a:srgbClr val="D3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017520" cy="731520"/>
          </a:xfrm>
          <a:prstGeom prst="rect">
            <a:avLst/>
          </a:prstGeom>
          <a:noFill/>
        </p:spPr>
        <p:txBody>
          <a:bodyPr wrap="square">
            <a:spAutoFit/>
          </a:bodyPr>
          <a:lstStyle/>
          <a:p>
            <a:pPr algn="ctr">
              <a:defRPr b="1" sz="1300">
                <a:solidFill>
                  <a:srgbClr val="FFFFFF"/>
                </a:solidFill>
              </a:defRPr>
            </a:pPr>
            <a:r>
              <a:t>ROOT ISSUE</a:t>
            </a:r>
            <a:br/>
            <a:r>
              <a:t>Verification Rate ↓15%</a:t>
            </a:r>
          </a:p>
        </p:txBody>
      </p:sp>
      <p:sp>
        <p:nvSpPr>
          <p:cNvPr id="6" name="Rounded Rectangle 5"/>
          <p:cNvSpPr/>
          <p:nvPr/>
        </p:nvSpPr>
        <p:spPr>
          <a:xfrm>
            <a:off x="4389120" y="1645920"/>
            <a:ext cx="3200400" cy="914400"/>
          </a:xfrm>
          <a:prstGeom prst="roundRect">
            <a:avLst/>
          </a:prstGeom>
          <a:solidFill>
            <a:srgbClr val="F5F6F8"/>
          </a:solidFill>
          <a:ln w="19050">
            <a:solidFill>
              <a:srgbClr val="E4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34840" y="1691640"/>
            <a:ext cx="3108960" cy="822960"/>
          </a:xfrm>
          <a:prstGeom prst="rect">
            <a:avLst/>
          </a:prstGeom>
          <a:noFill/>
        </p:spPr>
        <p:txBody>
          <a:bodyPr wrap="square">
            <a:spAutoFit/>
          </a:bodyPr>
          <a:lstStyle/>
          <a:p>
            <a:pPr>
              <a:defRPr b="1" sz="1200">
                <a:solidFill>
                  <a:srgbClr val="2B5CE0"/>
                </a:solidFill>
              </a:defRPr>
            </a:pPr>
            <a:r>
              <a:t>A. Traffic mix</a:t>
            </a:r>
          </a:p>
          <a:p>
            <a:pPr>
              <a:spcBef>
                <a:spcPts val="200"/>
              </a:spcBef>
              <a:defRPr sz="1100">
                <a:solidFill>
                  <a:srgbClr val="4B5160"/>
                </a:solidFill>
              </a:defRPr>
            </a:pPr>
            <a:r>
              <a:t>Shift in ad referrals vs organic checks</a:t>
            </a:r>
          </a:p>
        </p:txBody>
      </p:sp>
      <p:sp>
        <p:nvSpPr>
          <p:cNvPr id="8" name="Right Arrow 7"/>
          <p:cNvSpPr/>
          <p:nvPr/>
        </p:nvSpPr>
        <p:spPr>
          <a:xfrm>
            <a:off x="4023360" y="1965960"/>
            <a:ext cx="274320" cy="182880"/>
          </a:xfrm>
          <a:prstGeom prst="rightArrow">
            <a:avLst/>
          </a:prstGeom>
          <a:solidFill>
            <a:srgbClr val="E4E7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2743200"/>
            <a:ext cx="3200400" cy="914400"/>
          </a:xfrm>
          <a:prstGeom prst="roundRect">
            <a:avLst/>
          </a:prstGeom>
          <a:solidFill>
            <a:srgbClr val="F5F6F8"/>
          </a:solidFill>
          <a:ln w="19050">
            <a:solidFill>
              <a:srgbClr val="E4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34840" y="2788920"/>
            <a:ext cx="3108960" cy="822960"/>
          </a:xfrm>
          <a:prstGeom prst="rect">
            <a:avLst/>
          </a:prstGeom>
          <a:noFill/>
        </p:spPr>
        <p:txBody>
          <a:bodyPr wrap="square">
            <a:spAutoFit/>
          </a:bodyPr>
          <a:lstStyle/>
          <a:p>
            <a:pPr>
              <a:defRPr b="1" sz="1200">
                <a:solidFill>
                  <a:srgbClr val="2B5CE0"/>
                </a:solidFill>
              </a:defRPr>
            </a:pPr>
            <a:r>
              <a:t>B. Phone entry UX</a:t>
            </a:r>
          </a:p>
          <a:p>
            <a:pPr>
              <a:spcBef>
                <a:spcPts val="200"/>
              </a:spcBef>
              <a:defRPr sz="1100">
                <a:solidFill>
                  <a:srgbClr val="4B5160"/>
                </a:solidFill>
              </a:defRPr>
            </a:pPr>
            <a:r>
              <a:t>Browser keypress blocks / formatting bugs</a:t>
            </a:r>
          </a:p>
        </p:txBody>
      </p:sp>
      <p:sp>
        <p:nvSpPr>
          <p:cNvPr id="11" name="Right Arrow 10"/>
          <p:cNvSpPr/>
          <p:nvPr/>
        </p:nvSpPr>
        <p:spPr>
          <a:xfrm>
            <a:off x="4023360" y="3063240"/>
            <a:ext cx="274320" cy="182880"/>
          </a:xfrm>
          <a:prstGeom prst="rightArrow">
            <a:avLst/>
          </a:prstGeom>
          <a:solidFill>
            <a:srgbClr val="E4E7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89120" y="3840480"/>
            <a:ext cx="3200400" cy="914400"/>
          </a:xfrm>
          <a:prstGeom prst="roundRect">
            <a:avLst/>
          </a:prstGeom>
          <a:solidFill>
            <a:srgbClr val="F5F6F8"/>
          </a:solidFill>
          <a:ln w="19050">
            <a:solidFill>
              <a:srgbClr val="E4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34840" y="3886200"/>
            <a:ext cx="3108960" cy="822960"/>
          </a:xfrm>
          <a:prstGeom prst="rect">
            <a:avLst/>
          </a:prstGeom>
          <a:noFill/>
        </p:spPr>
        <p:txBody>
          <a:bodyPr wrap="square">
            <a:spAutoFit/>
          </a:bodyPr>
          <a:lstStyle/>
          <a:p>
            <a:pPr>
              <a:defRPr b="1" sz="1200">
                <a:solidFill>
                  <a:srgbClr val="2B5CE0"/>
                </a:solidFill>
              </a:defRPr>
            </a:pPr>
            <a:r>
              <a:t>C. OTP Delivery</a:t>
            </a:r>
          </a:p>
          <a:p>
            <a:pPr>
              <a:spcBef>
                <a:spcPts val="200"/>
              </a:spcBef>
              <a:defRPr sz="1100">
                <a:solidFill>
                  <a:srgbClr val="4B5160"/>
                </a:solidFill>
              </a:defRPr>
            </a:pPr>
            <a:r>
              <a:t>Carrier SMS routing delays / timeouts</a:t>
            </a:r>
          </a:p>
        </p:txBody>
      </p:sp>
      <p:sp>
        <p:nvSpPr>
          <p:cNvPr id="14" name="Right Arrow 13"/>
          <p:cNvSpPr/>
          <p:nvPr/>
        </p:nvSpPr>
        <p:spPr>
          <a:xfrm>
            <a:off x="4023360" y="4160520"/>
            <a:ext cx="274320" cy="182880"/>
          </a:xfrm>
          <a:prstGeom prst="rightArrow">
            <a:avLst/>
          </a:prstGeom>
          <a:solidFill>
            <a:srgbClr val="E4E7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89120" y="4937760"/>
            <a:ext cx="3200400" cy="914400"/>
          </a:xfrm>
          <a:prstGeom prst="roundRect">
            <a:avLst/>
          </a:prstGeom>
          <a:solidFill>
            <a:srgbClr val="F5F6F8"/>
          </a:solidFill>
          <a:ln w="19050">
            <a:solidFill>
              <a:srgbClr val="E4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4983480"/>
            <a:ext cx="3108960" cy="822960"/>
          </a:xfrm>
          <a:prstGeom prst="rect">
            <a:avLst/>
          </a:prstGeom>
          <a:noFill/>
        </p:spPr>
        <p:txBody>
          <a:bodyPr wrap="square">
            <a:spAutoFit/>
          </a:bodyPr>
          <a:lstStyle/>
          <a:p>
            <a:pPr>
              <a:defRPr b="1" sz="1200">
                <a:solidFill>
                  <a:srgbClr val="2B5CE0"/>
                </a:solidFill>
              </a:defRPr>
            </a:pPr>
            <a:r>
              <a:t>D. OTP Validation</a:t>
            </a:r>
          </a:p>
          <a:p>
            <a:pPr>
              <a:spcBef>
                <a:spcPts val="200"/>
              </a:spcBef>
              <a:defRPr sz="1100">
                <a:solidFill>
                  <a:srgbClr val="4B5160"/>
                </a:solidFill>
              </a:defRPr>
            </a:pPr>
            <a:r>
              <a:t>Digit auto-advance focus regressions</a:t>
            </a:r>
          </a:p>
        </p:txBody>
      </p:sp>
      <p:sp>
        <p:nvSpPr>
          <p:cNvPr id="17" name="Right Arrow 16"/>
          <p:cNvSpPr/>
          <p:nvPr/>
        </p:nvSpPr>
        <p:spPr>
          <a:xfrm>
            <a:off x="4023360" y="5257800"/>
            <a:ext cx="274320" cy="182880"/>
          </a:xfrm>
          <a:prstGeom prst="rightArrow">
            <a:avLst/>
          </a:prstGeom>
          <a:solidFill>
            <a:srgbClr val="E4E7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0" y="1645920"/>
            <a:ext cx="3383280" cy="420624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1737360"/>
            <a:ext cx="3200400" cy="4023360"/>
          </a:xfrm>
          <a:prstGeom prst="rect">
            <a:avLst/>
          </a:prstGeom>
          <a:noFill/>
        </p:spPr>
        <p:txBody>
          <a:bodyPr wrap="square">
            <a:spAutoFit/>
          </a:bodyPr>
          <a:lstStyle/>
          <a:p>
            <a:pPr>
              <a:defRPr b="1" sz="1200">
                <a:solidFill>
                  <a:srgbClr val="1F9D63"/>
                </a:solidFill>
              </a:defRPr>
            </a:pPr>
            <a:r>
              <a:t>INVESTIGATION PROTOCOL</a:t>
            </a:r>
          </a:p>
          <a:p>
            <a:pPr>
              <a:spcBef>
                <a:spcPts val="800"/>
              </a:spcBef>
              <a:defRPr sz="1200">
                <a:solidFill>
                  <a:srgbClr val="111318"/>
                </a:solidFill>
              </a:defRPr>
            </a:pPr>
            <a:r>
              <a:t>1. Validate telemetry data integrity.</a:t>
            </a:r>
          </a:p>
          <a:p>
            <a:pPr>
              <a:spcBef>
                <a:spcPts val="800"/>
              </a:spcBef>
              <a:defRPr sz="1200">
                <a:solidFill>
                  <a:srgbClr val="111318"/>
                </a:solidFill>
              </a:defRPr>
            </a:pPr>
            <a:r>
              <a:t>2. Segment rates by carrier &amp; browser.</a:t>
            </a:r>
          </a:p>
          <a:p>
            <a:pPr>
              <a:spcBef>
                <a:spcPts val="800"/>
              </a:spcBef>
              <a:defRPr sz="1200">
                <a:solidFill>
                  <a:srgbClr val="111318"/>
                </a:solidFill>
              </a:defRPr>
            </a:pPr>
            <a:r>
              <a:t>3. Isolate exact step drop-off ratios.</a:t>
            </a:r>
          </a:p>
          <a:p>
            <a:pPr>
              <a:spcBef>
                <a:spcPts val="800"/>
              </a:spcBef>
              <a:defRPr sz="1200">
                <a:solidFill>
                  <a:srgbClr val="111318"/>
                </a:solidFill>
              </a:defRPr>
            </a:pPr>
            <a:r>
              <a:t>4. Check operational logs &amp; SMS latency.</a:t>
            </a:r>
          </a:p>
          <a:p>
            <a:pPr>
              <a:spcBef>
                <a:spcPts val="800"/>
              </a:spcBef>
              <a:defRPr sz="1200">
                <a:solidFill>
                  <a:srgbClr val="111318"/>
                </a:solidFill>
              </a:defRPr>
            </a:pPr>
            <a:r>
              <a:t>5. Apply mitigations (SMS provider hotfix).</a:t>
            </a:r>
          </a:p>
          <a:p>
            <a:pPr>
              <a:spcBef>
                <a:spcPts val="800"/>
              </a:spcBef>
              <a:defRPr sz="1200">
                <a:solidFill>
                  <a:srgbClr val="111318"/>
                </a:solidFill>
              </a:defRPr>
            </a:pPr>
            <a:r>
              <a:t>6. Monitor dashboard recovery metrics.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PORTAL PERFORMANCE</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PM Analytics: Dashboard Performance (Illustrative Data)</a:t>
            </a:r>
          </a:p>
        </p:txBody>
      </p:sp>
      <p:sp>
        <p:nvSpPr>
          <p:cNvPr id="4" name="Rounded Rectangle 3"/>
          <p:cNvSpPr/>
          <p:nvPr/>
        </p:nvSpPr>
        <p:spPr>
          <a:xfrm>
            <a:off x="731520" y="1554480"/>
            <a:ext cx="2514600" cy="105156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2514600" cy="914400"/>
          </a:xfrm>
          <a:prstGeom prst="rect">
            <a:avLst/>
          </a:prstGeom>
          <a:noFill/>
        </p:spPr>
        <p:txBody>
          <a:bodyPr wrap="square">
            <a:spAutoFit/>
          </a:bodyPr>
          <a:lstStyle/>
          <a:p>
            <a:pPr algn="ctr">
              <a:defRPr sz="1100" b="1">
                <a:solidFill>
                  <a:srgbClr val="4B5160"/>
                </a:solidFill>
              </a:defRPr>
            </a:pPr>
            <a:r>
              <a:t>Verified Agency Rate</a:t>
            </a:r>
          </a:p>
          <a:p>
            <a:pPr algn="ctr">
              <a:spcBef>
                <a:spcPts val="400"/>
              </a:spcBef>
              <a:defRPr sz="2200" b="1">
                <a:solidFill>
                  <a:srgbClr val="2B5CE0"/>
                </a:solidFill>
              </a:defRPr>
            </a:pPr>
            <a:r>
              <a:t>78.4%</a:t>
            </a:r>
          </a:p>
        </p:txBody>
      </p:sp>
      <p:sp>
        <p:nvSpPr>
          <p:cNvPr id="6" name="Rounded Rectangle 5"/>
          <p:cNvSpPr/>
          <p:nvPr/>
        </p:nvSpPr>
        <p:spPr>
          <a:xfrm>
            <a:off x="3429000" y="1554480"/>
            <a:ext cx="2514600" cy="105156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29000" y="1645920"/>
            <a:ext cx="2514600" cy="914400"/>
          </a:xfrm>
          <a:prstGeom prst="rect">
            <a:avLst/>
          </a:prstGeom>
          <a:noFill/>
        </p:spPr>
        <p:txBody>
          <a:bodyPr wrap="square">
            <a:spAutoFit/>
          </a:bodyPr>
          <a:lstStyle/>
          <a:p>
            <a:pPr algn="ctr">
              <a:defRPr sz="1100" b="1">
                <a:solidFill>
                  <a:srgbClr val="4B5160"/>
                </a:solidFill>
              </a:defRPr>
            </a:pPr>
            <a:r>
              <a:t>OTP Success Rate</a:t>
            </a:r>
          </a:p>
          <a:p>
            <a:pPr algn="ctr">
              <a:spcBef>
                <a:spcPts val="400"/>
              </a:spcBef>
              <a:defRPr sz="2200" b="1">
                <a:solidFill>
                  <a:srgbClr val="1F9D63"/>
                </a:solidFill>
              </a:defRPr>
            </a:pPr>
            <a:r>
              <a:t>87.1%</a:t>
            </a:r>
          </a:p>
        </p:txBody>
      </p:sp>
      <p:sp>
        <p:nvSpPr>
          <p:cNvPr id="8" name="Rounded Rectangle 7"/>
          <p:cNvSpPr/>
          <p:nvPr/>
        </p:nvSpPr>
        <p:spPr>
          <a:xfrm>
            <a:off x="6126480" y="1554480"/>
            <a:ext cx="2514600" cy="105156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645920"/>
            <a:ext cx="2514600" cy="914400"/>
          </a:xfrm>
          <a:prstGeom prst="rect">
            <a:avLst/>
          </a:prstGeom>
          <a:noFill/>
        </p:spPr>
        <p:txBody>
          <a:bodyPr wrap="square">
            <a:spAutoFit/>
          </a:bodyPr>
          <a:lstStyle/>
          <a:p>
            <a:pPr algn="ctr">
              <a:defRPr sz="1100" b="1">
                <a:solidFill>
                  <a:srgbClr val="4B5160"/>
                </a:solidFill>
              </a:defRPr>
            </a:pPr>
            <a:r>
              <a:t>Median SLA</a:t>
            </a:r>
          </a:p>
          <a:p>
            <a:pPr algn="ctr">
              <a:spcBef>
                <a:spcPts val="400"/>
              </a:spcBef>
              <a:defRPr sz="2200" b="1">
                <a:solidFill>
                  <a:srgbClr val="C57A11"/>
                </a:solidFill>
              </a:defRPr>
            </a:pPr>
            <a:r>
              <a:t>3.2 Days</a:t>
            </a:r>
          </a:p>
        </p:txBody>
      </p:sp>
      <p:sp>
        <p:nvSpPr>
          <p:cNvPr id="10" name="Rounded Rectangle 9"/>
          <p:cNvSpPr/>
          <p:nvPr/>
        </p:nvSpPr>
        <p:spPr>
          <a:xfrm>
            <a:off x="8823960" y="1554480"/>
            <a:ext cx="2514600" cy="105156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3960" y="1645920"/>
            <a:ext cx="2514600" cy="914400"/>
          </a:xfrm>
          <a:prstGeom prst="rect">
            <a:avLst/>
          </a:prstGeom>
          <a:noFill/>
        </p:spPr>
        <p:txBody>
          <a:bodyPr wrap="square">
            <a:spAutoFit/>
          </a:bodyPr>
          <a:lstStyle/>
          <a:p>
            <a:pPr algn="ctr">
              <a:defRPr sz="1100" b="1">
                <a:solidFill>
                  <a:srgbClr val="4B5160"/>
                </a:solidFill>
              </a:defRPr>
            </a:pPr>
            <a:r>
              <a:t>CSAT Score</a:t>
            </a:r>
          </a:p>
          <a:p>
            <a:pPr algn="ctr">
              <a:spcBef>
                <a:spcPts val="400"/>
              </a:spcBef>
              <a:defRPr sz="2200" b="1">
                <a:solidFill>
                  <a:srgbClr val="1F9D63"/>
                </a:solidFill>
              </a:defRPr>
            </a:pPr>
            <a:r>
              <a:t>86.4%</a:t>
            </a:r>
          </a:p>
        </p:txBody>
      </p:sp>
      <p:sp>
        <p:nvSpPr>
          <p:cNvPr id="12" name="Rounded Rectangle 11"/>
          <p:cNvSpPr/>
          <p:nvPr/>
        </p:nvSpPr>
        <p:spPr>
          <a:xfrm>
            <a:off x="731520" y="2834640"/>
            <a:ext cx="5303520" cy="329184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926080"/>
            <a:ext cx="5120640" cy="3108960"/>
          </a:xfrm>
          <a:prstGeom prst="rect">
            <a:avLst/>
          </a:prstGeom>
          <a:noFill/>
        </p:spPr>
        <p:txBody>
          <a:bodyPr wrap="square">
            <a:spAutoFit/>
          </a:bodyPr>
          <a:lstStyle/>
          <a:p>
            <a:pPr>
              <a:defRPr b="1" sz="1200">
                <a:solidFill>
                  <a:srgbClr val="2B5CE0"/>
                </a:solidFill>
              </a:defRPr>
            </a:pPr>
            <a:r>
              <a:t>CONVERSION FUNNEL (MOCKUP)</a:t>
            </a:r>
          </a:p>
          <a:p>
            <a:pPr>
              <a:spcBef>
                <a:spcPts val="800"/>
              </a:spcBef>
              <a:defRPr b="1" sz="1200">
                <a:solidFill>
                  <a:srgbClr val="111318"/>
                </a:solidFill>
              </a:defRPr>
            </a:pPr>
            <a:r>
              <a:t>1. Intro Visits: </a:t>
            </a:r>
            <a:r>
              <a:rPr b="0">
                <a:solidFill>
                  <a:srgbClr val="4B5160"/>
                </a:solidFill>
              </a:rPr>
              <a:t>128,450 (100%)</a:t>
            </a:r>
          </a:p>
          <a:p>
            <a:pPr>
              <a:spcBef>
                <a:spcPts val="800"/>
              </a:spcBef>
              <a:defRPr b="1" sz="1200">
                <a:solidFill>
                  <a:srgbClr val="111318"/>
                </a:solidFill>
              </a:defRPr>
            </a:pPr>
            <a:r>
              <a:t>2. Phone Entered: </a:t>
            </a:r>
            <a:r>
              <a:rPr b="0">
                <a:solidFill>
                  <a:srgbClr val="4B5160"/>
                </a:solidFill>
              </a:rPr>
              <a:t>100,700 (78.4%)</a:t>
            </a:r>
          </a:p>
          <a:p>
            <a:pPr>
              <a:spcBef>
                <a:spcPts val="800"/>
              </a:spcBef>
              <a:defRPr b="1" sz="1200">
                <a:solidFill>
                  <a:srgbClr val="111318"/>
                </a:solidFill>
              </a:defRPr>
            </a:pPr>
            <a:r>
              <a:t>3. OTP Verified: </a:t>
            </a:r>
            <a:r>
              <a:rPr b="0">
                <a:solidFill>
                  <a:srgbClr val="4B5160"/>
                </a:solidFill>
              </a:rPr>
              <a:t>79,800 (62.1%)</a:t>
            </a:r>
          </a:p>
          <a:p>
            <a:pPr>
              <a:spcBef>
                <a:spcPts val="800"/>
              </a:spcBef>
              <a:defRPr b="1" sz="1200">
                <a:solidFill>
                  <a:srgbClr val="111318"/>
                </a:solidFill>
              </a:defRPr>
            </a:pPr>
            <a:r>
              <a:t>4. Action Submitted: </a:t>
            </a:r>
            <a:r>
              <a:rPr b="0">
                <a:solidFill>
                  <a:srgbClr val="4B5160"/>
                </a:solidFill>
              </a:rPr>
              <a:t>62,560 (48.7%)</a:t>
            </a:r>
          </a:p>
        </p:txBody>
      </p:sp>
      <p:sp>
        <p:nvSpPr>
          <p:cNvPr id="14" name="Rounded Rectangle 13"/>
          <p:cNvSpPr/>
          <p:nvPr/>
        </p:nvSpPr>
        <p:spPr>
          <a:xfrm>
            <a:off x="6217920" y="2834640"/>
            <a:ext cx="5212080" cy="329184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926080"/>
            <a:ext cx="4846320" cy="3108960"/>
          </a:xfrm>
          <a:prstGeom prst="rect">
            <a:avLst/>
          </a:prstGeom>
          <a:noFill/>
        </p:spPr>
        <p:txBody>
          <a:bodyPr wrap="square">
            <a:spAutoFit/>
          </a:bodyPr>
          <a:lstStyle/>
          <a:p>
            <a:pPr>
              <a:defRPr b="1" sz="1200">
                <a:solidFill>
                  <a:srgbClr val="1F9D63"/>
                </a:solidFill>
              </a:defRPr>
            </a:pPr>
            <a:r>
              <a:t>SEGMENTATION &amp; FILTERS</a:t>
            </a:r>
          </a:p>
          <a:p>
            <a:pPr>
              <a:spcBef>
                <a:spcPts val="1200"/>
              </a:spcBef>
              <a:defRPr sz="1200">
                <a:solidFill>
                  <a:srgbClr val="111318"/>
                </a:solidFill>
              </a:defRPr>
            </a:pPr>
            <a:r>
              <a:t>Action Category split: Name Corrections = 68% (42,540) | Erasure Requests = 32% (20,020)</a:t>
            </a:r>
          </a:p>
          <a:p>
            <a:pPr>
              <a:spcBef>
                <a:spcPts val="1000"/>
              </a:spcBef>
              <a:defRPr sz="1200">
                <a:solidFill>
                  <a:srgbClr val="4B5160"/>
                </a:solidFill>
              </a:defRPr>
            </a:pPr>
            <a:r>
              <a:t>Device Splits: Mobile Web = 72% | Desktop Web = 28%</a:t>
            </a:r>
            <a:br/>
            <a:r>
              <a:t>Region Highlights: Karnataka (44%) | Maharashtra (28%)</a:t>
            </a:r>
          </a:p>
          <a:p>
            <a:pPr>
              <a:spcBef>
                <a:spcPts val="1400"/>
              </a:spcBef>
              <a:defRPr b="1" sz="1100">
                <a:solidFill>
                  <a:srgbClr val="2B5CE0"/>
                </a:solidFill>
              </a:defRPr>
            </a:pPr>
            <a:r>
              <a:t>Available Dashboard Filters:</a:t>
            </a:r>
            <a:br/>
            <a:r>
              <a:t>Date Range  •  State/Region  •  Request Type  •  Device Group</a:t>
            </a:r>
          </a:p>
          <a:p>
            <a:pPr>
              <a:spcBef>
                <a:spcPts val="1400"/>
              </a:spcBef>
              <a:defRPr sz="1000" i="1">
                <a:solidFill>
                  <a:srgbClr val="4B5160"/>
                </a:solidFill>
              </a:defRPr>
            </a:pPr>
            <a:r>
              <a:t>* All metrics listed above are illustrative target mocks for analytical visualization.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EXECUTION PLAN</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Phased Rollout Timeline &amp; UX Experimentation</a:t>
            </a:r>
          </a:p>
        </p:txBody>
      </p:sp>
      <p:sp>
        <p:nvSpPr>
          <p:cNvPr id="4" name="Rounded Rectangle 3"/>
          <p:cNvSpPr/>
          <p:nvPr/>
        </p:nvSpPr>
        <p:spPr>
          <a:xfrm>
            <a:off x="731520" y="1645920"/>
            <a:ext cx="2633472" cy="34747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2633472" cy="3291840"/>
          </a:xfrm>
          <a:prstGeom prst="rect">
            <a:avLst/>
          </a:prstGeom>
          <a:noFill/>
        </p:spPr>
        <p:txBody>
          <a:bodyPr wrap="square">
            <a:spAutoFit/>
          </a:bodyPr>
          <a:lstStyle/>
          <a:p>
            <a:pPr>
              <a:defRPr b="1" sz="1200">
                <a:solidFill>
                  <a:srgbClr val="2B5CE0"/>
                </a:solidFill>
              </a:defRPr>
            </a:pPr>
            <a:r>
              <a:t>1. DOGFOOD</a:t>
            </a:r>
          </a:p>
          <a:p>
            <a:pPr>
              <a:spcBef>
                <a:spcPts val="800"/>
              </a:spcBef>
              <a:defRPr sz="1150">
                <a:solidFill>
                  <a:srgbClr val="111318"/>
                </a:solidFill>
              </a:defRPr>
            </a:pPr>
            <a:r>
              <a:t>Employees &amp; internal alpha testing</a:t>
            </a:r>
          </a:p>
          <a:p>
            <a:pPr>
              <a:spcBef>
                <a:spcPts val="1200"/>
              </a:spcBef>
              <a:defRPr b="1" sz="1100">
                <a:solidFill>
                  <a:srgbClr val="1F9D63"/>
                </a:solidFill>
              </a:defRPr>
            </a:pPr>
            <a:r>
              <a:t>Key Metric: OTP validation checks</a:t>
            </a:r>
          </a:p>
          <a:p>
            <a:pPr>
              <a:spcBef>
                <a:spcPts val="800"/>
              </a:spcBef>
              <a:defRPr b="1" sz="1100">
                <a:solidFill>
                  <a:srgbClr val="D33B3B"/>
                </a:solidFill>
              </a:defRPr>
            </a:pPr>
            <a:r>
              <a:t>Rollback: Halt on route 404 bugs</a:t>
            </a:r>
          </a:p>
        </p:txBody>
      </p:sp>
      <p:sp>
        <p:nvSpPr>
          <p:cNvPr id="6" name="Rounded Rectangle 5"/>
          <p:cNvSpPr/>
          <p:nvPr/>
        </p:nvSpPr>
        <p:spPr>
          <a:xfrm>
            <a:off x="3429000" y="1645920"/>
            <a:ext cx="2633472" cy="34747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29000" y="1737360"/>
            <a:ext cx="2633472" cy="3291840"/>
          </a:xfrm>
          <a:prstGeom prst="rect">
            <a:avLst/>
          </a:prstGeom>
          <a:noFill/>
        </p:spPr>
        <p:txBody>
          <a:bodyPr wrap="square">
            <a:spAutoFit/>
          </a:bodyPr>
          <a:lstStyle/>
          <a:p>
            <a:pPr>
              <a:defRPr b="1" sz="1200">
                <a:solidFill>
                  <a:srgbClr val="2B5CE0"/>
                </a:solidFill>
              </a:defRPr>
            </a:pPr>
            <a:r>
              <a:t>2. PILOT</a:t>
            </a:r>
          </a:p>
          <a:p>
            <a:pPr>
              <a:spcBef>
                <a:spcPts val="800"/>
              </a:spcBef>
              <a:defRPr sz="1150">
                <a:solidFill>
                  <a:srgbClr val="111318"/>
                </a:solidFill>
              </a:defRPr>
            </a:pPr>
            <a:r>
              <a:t> Karnataka state soft launch cohort</a:t>
            </a:r>
          </a:p>
          <a:p>
            <a:pPr>
              <a:spcBef>
                <a:spcPts val="1200"/>
              </a:spcBef>
              <a:defRPr b="1" sz="1100">
                <a:solidFill>
                  <a:srgbClr val="1F9D63"/>
                </a:solidFill>
              </a:defRPr>
            </a:pPr>
            <a:r>
              <a:t>Key Metric: Verified Agency Rate</a:t>
            </a:r>
          </a:p>
          <a:p>
            <a:pPr>
              <a:spcBef>
                <a:spcPts val="800"/>
              </a:spcBef>
              <a:defRPr b="1" sz="1100">
                <a:solidFill>
                  <a:srgbClr val="D33B3B"/>
                </a:solidFill>
              </a:defRPr>
            </a:pPr>
            <a:r>
              <a:t>Rollback: Halt on drop-off &gt; 20%</a:t>
            </a:r>
          </a:p>
        </p:txBody>
      </p:sp>
      <p:sp>
        <p:nvSpPr>
          <p:cNvPr id="8" name="Rounded Rectangle 7"/>
          <p:cNvSpPr/>
          <p:nvPr/>
        </p:nvSpPr>
        <p:spPr>
          <a:xfrm>
            <a:off x="6126480" y="1645920"/>
            <a:ext cx="2633472" cy="34747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737360"/>
            <a:ext cx="2633472" cy="3291840"/>
          </a:xfrm>
          <a:prstGeom prst="rect">
            <a:avLst/>
          </a:prstGeom>
          <a:noFill/>
        </p:spPr>
        <p:txBody>
          <a:bodyPr wrap="square">
            <a:spAutoFit/>
          </a:bodyPr>
          <a:lstStyle/>
          <a:p>
            <a:pPr>
              <a:defRPr b="1" sz="1200">
                <a:solidFill>
                  <a:srgbClr val="2B5CE0"/>
                </a:solidFill>
              </a:defRPr>
            </a:pPr>
            <a:r>
              <a:t>3. EXPANDED</a:t>
            </a:r>
          </a:p>
          <a:p>
            <a:pPr>
              <a:spcBef>
                <a:spcPts val="800"/>
              </a:spcBef>
              <a:defRPr sz="1150">
                <a:solidFill>
                  <a:srgbClr val="111318"/>
                </a:solidFill>
              </a:defRPr>
            </a:pPr>
            <a:r>
              <a:t>Additional selected state registries</a:t>
            </a:r>
          </a:p>
          <a:p>
            <a:pPr>
              <a:spcBef>
                <a:spcPts val="1200"/>
              </a:spcBef>
              <a:defRPr b="1" sz="1100">
                <a:solidFill>
                  <a:srgbClr val="1F9D63"/>
                </a:solidFill>
              </a:defRPr>
            </a:pPr>
            <a:r>
              <a:t>Key Metric: Median resolution SLA</a:t>
            </a:r>
          </a:p>
          <a:p>
            <a:pPr>
              <a:spcBef>
                <a:spcPts val="800"/>
              </a:spcBef>
              <a:defRPr b="1" sz="1100">
                <a:solidFill>
                  <a:srgbClr val="D33B3B"/>
                </a:solidFill>
              </a:defRPr>
            </a:pPr>
            <a:r>
              <a:t>Rollback: Halt on SLA &gt; 5 days</a:t>
            </a:r>
          </a:p>
        </p:txBody>
      </p:sp>
      <p:sp>
        <p:nvSpPr>
          <p:cNvPr id="10" name="Rounded Rectangle 9"/>
          <p:cNvSpPr/>
          <p:nvPr/>
        </p:nvSpPr>
        <p:spPr>
          <a:xfrm>
            <a:off x="8823960" y="1645920"/>
            <a:ext cx="2633472" cy="347472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3960" y="1737360"/>
            <a:ext cx="2633472" cy="3291840"/>
          </a:xfrm>
          <a:prstGeom prst="rect">
            <a:avLst/>
          </a:prstGeom>
          <a:noFill/>
        </p:spPr>
        <p:txBody>
          <a:bodyPr wrap="square">
            <a:spAutoFit/>
          </a:bodyPr>
          <a:lstStyle/>
          <a:p>
            <a:pPr>
              <a:defRPr b="1" sz="1200">
                <a:solidFill>
                  <a:srgbClr val="2B5CE0"/>
                </a:solidFill>
              </a:defRPr>
            </a:pPr>
            <a:r>
              <a:t>4. NATIONAL</a:t>
            </a:r>
          </a:p>
          <a:p>
            <a:pPr>
              <a:spcBef>
                <a:spcPts val="800"/>
              </a:spcBef>
              <a:defRPr sz="1150">
                <a:solidFill>
                  <a:srgbClr val="111318"/>
                </a:solidFill>
              </a:defRPr>
            </a:pPr>
            <a:r>
              <a:t>India nationwide rollout</a:t>
            </a:r>
          </a:p>
          <a:p>
            <a:pPr>
              <a:spcBef>
                <a:spcPts val="1200"/>
              </a:spcBef>
              <a:defRPr b="1" sz="1100">
                <a:solidFill>
                  <a:srgbClr val="1F9D63"/>
                </a:solidFill>
              </a:defRPr>
            </a:pPr>
            <a:r>
              <a:t>Key Metric: CSAT feedback scores</a:t>
            </a:r>
          </a:p>
          <a:p>
            <a:pPr>
              <a:spcBef>
                <a:spcPts val="800"/>
              </a:spcBef>
              <a:defRPr b="1" sz="1100">
                <a:solidFill>
                  <a:srgbClr val="D33B3B"/>
                </a:solidFill>
              </a:defRPr>
            </a:pPr>
            <a:r>
              <a:t>Rollback: Halt on CSAT &lt; 75%</a:t>
            </a:r>
          </a:p>
        </p:txBody>
      </p:sp>
      <p:sp>
        <p:nvSpPr>
          <p:cNvPr id="12" name="Rounded Rectangle 11"/>
          <p:cNvSpPr/>
          <p:nvPr/>
        </p:nvSpPr>
        <p:spPr>
          <a:xfrm>
            <a:off x="731520" y="5303520"/>
            <a:ext cx="10725912" cy="1005840"/>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394960"/>
            <a:ext cx="10332720" cy="822960"/>
          </a:xfrm>
          <a:prstGeom prst="rect">
            <a:avLst/>
          </a:prstGeom>
          <a:noFill/>
        </p:spPr>
        <p:txBody>
          <a:bodyPr wrap="square">
            <a:spAutoFit/>
          </a:bodyPr>
          <a:lstStyle/>
          <a:p>
            <a:pPr>
              <a:defRPr b="1" sz="1100">
                <a:solidFill>
                  <a:srgbClr val="2B5CE0"/>
                </a:solidFill>
              </a:defRPr>
            </a:pPr>
            <a:r>
              <a:t>UX EXPERIMENTATION HYPOTHESIS TESTING POLICY</a:t>
            </a:r>
          </a:p>
          <a:p>
            <a:pPr>
              <a:spcBef>
                <a:spcPts val="400"/>
              </a:spcBef>
              <a:defRPr sz="1200">
                <a:solidFill>
                  <a:srgbClr val="111318"/>
                </a:solidFill>
              </a:defRPr>
            </a:pPr>
            <a:r>
              <a:t>Mandatory rights access must NOT be withheld from control groups (legal compliance requirement). Instead, UX optimization experiments will test variants of layout copies, warning disclosure placements, and SMS resend reminders to maximize verification rates.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lgn="l">
              <a:defRPr sz="1100" b="1">
                <a:solidFill>
                  <a:srgbClr val="2B5CE0"/>
                </a:solidFill>
                <a:latin typeface="Inter"/>
              </a:defRPr>
            </a:pPr>
            <a:r>
              <a:t>RISKS &amp; MITIGATIONS</a:t>
            </a:r>
          </a:p>
        </p:txBody>
      </p:sp>
      <p:sp>
        <p:nvSpPr>
          <p:cNvPr id="3" name="TextBox 2"/>
          <p:cNvSpPr txBox="1"/>
          <p:nvPr/>
        </p:nvSpPr>
        <p:spPr>
          <a:xfrm>
            <a:off x="731520" y="640080"/>
            <a:ext cx="10515600" cy="731520"/>
          </a:xfrm>
          <a:prstGeom prst="rect">
            <a:avLst/>
          </a:prstGeom>
          <a:noFill/>
        </p:spPr>
        <p:txBody>
          <a:bodyPr wrap="square">
            <a:spAutoFit/>
          </a:bodyPr>
          <a:lstStyle/>
          <a:p>
            <a:pPr algn="l">
              <a:defRPr sz="2800" b="1">
                <a:solidFill>
                  <a:srgbClr val="111318"/>
                </a:solidFill>
                <a:latin typeface="Inter"/>
              </a:defRPr>
            </a:pPr>
            <a:r>
              <a:t>Risks &amp; Accepted Trade-offs Matrix</a:t>
            </a:r>
          </a:p>
        </p:txBody>
      </p:sp>
      <p:sp>
        <p:nvSpPr>
          <p:cNvPr id="4" name="TextBox 3"/>
          <p:cNvSpPr txBox="1"/>
          <p:nvPr/>
        </p:nvSpPr>
        <p:spPr>
          <a:xfrm>
            <a:off x="731520" y="1554480"/>
            <a:ext cx="2103120" cy="365760"/>
          </a:xfrm>
          <a:prstGeom prst="rect">
            <a:avLst/>
          </a:prstGeom>
          <a:noFill/>
        </p:spPr>
        <p:txBody>
          <a:bodyPr wrap="square">
            <a:spAutoFit/>
          </a:bodyPr>
          <a:lstStyle/>
          <a:p>
            <a:pPr>
              <a:defRPr b="1" sz="1200">
                <a:solidFill>
                  <a:srgbClr val="2B5CE0"/>
                </a:solidFill>
              </a:defRPr>
            </a:pPr>
            <a:r>
              <a:t>Risk Theme</a:t>
            </a:r>
          </a:p>
        </p:txBody>
      </p:sp>
      <p:sp>
        <p:nvSpPr>
          <p:cNvPr id="5" name="TextBox 4"/>
          <p:cNvSpPr txBox="1"/>
          <p:nvPr/>
        </p:nvSpPr>
        <p:spPr>
          <a:xfrm>
            <a:off x="2926080" y="1554480"/>
            <a:ext cx="1097280" cy="365760"/>
          </a:xfrm>
          <a:prstGeom prst="rect">
            <a:avLst/>
          </a:prstGeom>
          <a:noFill/>
        </p:spPr>
        <p:txBody>
          <a:bodyPr wrap="square">
            <a:spAutoFit/>
          </a:bodyPr>
          <a:lstStyle/>
          <a:p>
            <a:pPr>
              <a:defRPr b="1" sz="1200">
                <a:solidFill>
                  <a:srgbClr val="2B5CE0"/>
                </a:solidFill>
              </a:defRPr>
            </a:pPr>
            <a:r>
              <a:t>Severity</a:t>
            </a:r>
          </a:p>
        </p:txBody>
      </p:sp>
      <p:sp>
        <p:nvSpPr>
          <p:cNvPr id="6" name="TextBox 5"/>
          <p:cNvSpPr txBox="1"/>
          <p:nvPr/>
        </p:nvSpPr>
        <p:spPr>
          <a:xfrm>
            <a:off x="4114800" y="1554480"/>
            <a:ext cx="1097280" cy="365760"/>
          </a:xfrm>
          <a:prstGeom prst="rect">
            <a:avLst/>
          </a:prstGeom>
          <a:noFill/>
        </p:spPr>
        <p:txBody>
          <a:bodyPr wrap="square">
            <a:spAutoFit/>
          </a:bodyPr>
          <a:lstStyle/>
          <a:p>
            <a:pPr>
              <a:defRPr b="1" sz="1200">
                <a:solidFill>
                  <a:srgbClr val="2B5CE0"/>
                </a:solidFill>
              </a:defRPr>
            </a:pPr>
            <a:r>
              <a:t>Likelihood</a:t>
            </a:r>
          </a:p>
        </p:txBody>
      </p:sp>
      <p:sp>
        <p:nvSpPr>
          <p:cNvPr id="7" name="TextBox 6"/>
          <p:cNvSpPr txBox="1"/>
          <p:nvPr/>
        </p:nvSpPr>
        <p:spPr>
          <a:xfrm>
            <a:off x="5303520" y="1554480"/>
            <a:ext cx="3017520" cy="365760"/>
          </a:xfrm>
          <a:prstGeom prst="rect">
            <a:avLst/>
          </a:prstGeom>
          <a:noFill/>
        </p:spPr>
        <p:txBody>
          <a:bodyPr wrap="square">
            <a:spAutoFit/>
          </a:bodyPr>
          <a:lstStyle/>
          <a:p>
            <a:pPr>
              <a:defRPr b="1" sz="1200">
                <a:solidFill>
                  <a:srgbClr val="2B5CE0"/>
                </a:solidFill>
              </a:defRPr>
            </a:pPr>
            <a:r>
              <a:t>Product Mitigation</a:t>
            </a:r>
          </a:p>
        </p:txBody>
      </p:sp>
      <p:sp>
        <p:nvSpPr>
          <p:cNvPr id="8" name="TextBox 7"/>
          <p:cNvSpPr txBox="1"/>
          <p:nvPr/>
        </p:nvSpPr>
        <p:spPr>
          <a:xfrm>
            <a:off x="8412480" y="1554480"/>
            <a:ext cx="3017520" cy="365760"/>
          </a:xfrm>
          <a:prstGeom prst="rect">
            <a:avLst/>
          </a:prstGeom>
          <a:noFill/>
        </p:spPr>
        <p:txBody>
          <a:bodyPr wrap="square">
            <a:spAutoFit/>
          </a:bodyPr>
          <a:lstStyle/>
          <a:p>
            <a:pPr>
              <a:defRPr b="1" sz="1200">
                <a:solidFill>
                  <a:srgbClr val="2B5CE0"/>
                </a:solidFill>
              </a:defRPr>
            </a:pPr>
            <a:r>
              <a:t>Accepted Trade-off</a:t>
            </a:r>
          </a:p>
        </p:txBody>
      </p:sp>
      <p:sp>
        <p:nvSpPr>
          <p:cNvPr id="9" name="Rounded Rectangle 8"/>
          <p:cNvSpPr/>
          <p:nvPr/>
        </p:nvSpPr>
        <p:spPr>
          <a:xfrm>
            <a:off x="731520" y="2011680"/>
            <a:ext cx="10725912" cy="749808"/>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2103120" cy="731520"/>
          </a:xfrm>
          <a:prstGeom prst="rect">
            <a:avLst/>
          </a:prstGeom>
          <a:noFill/>
        </p:spPr>
        <p:txBody>
          <a:bodyPr wrap="square">
            <a:spAutoFit/>
          </a:bodyPr>
          <a:lstStyle/>
          <a:p>
            <a:pPr>
              <a:defRPr b="1" sz="1150">
                <a:solidFill>
                  <a:srgbClr val="111318"/>
                </a:solidFill>
              </a:defRPr>
            </a:pPr>
            <a:r>
              <a:t>SIM Impersonation / Fake Claims</a:t>
            </a:r>
          </a:p>
        </p:txBody>
      </p:sp>
      <p:sp>
        <p:nvSpPr>
          <p:cNvPr id="11" name="TextBox 10"/>
          <p:cNvSpPr txBox="1"/>
          <p:nvPr/>
        </p:nvSpPr>
        <p:spPr>
          <a:xfrm>
            <a:off x="2926080" y="2057400"/>
            <a:ext cx="1097280" cy="731520"/>
          </a:xfrm>
          <a:prstGeom prst="rect">
            <a:avLst/>
          </a:prstGeom>
          <a:noFill/>
        </p:spPr>
        <p:txBody>
          <a:bodyPr wrap="square">
            <a:spAutoFit/>
          </a:bodyPr>
          <a:lstStyle/>
          <a:p>
            <a:pPr>
              <a:defRPr b="1" sz="1150">
                <a:solidFill>
                  <a:srgbClr val="D33B3B"/>
                </a:solidFill>
              </a:defRPr>
            </a:pPr>
            <a:r>
              <a:t>High</a:t>
            </a:r>
          </a:p>
        </p:txBody>
      </p:sp>
      <p:sp>
        <p:nvSpPr>
          <p:cNvPr id="12" name="TextBox 11"/>
          <p:cNvSpPr txBox="1"/>
          <p:nvPr/>
        </p:nvSpPr>
        <p:spPr>
          <a:xfrm>
            <a:off x="4114800" y="2057400"/>
            <a:ext cx="1097280" cy="731520"/>
          </a:xfrm>
          <a:prstGeom prst="rect">
            <a:avLst/>
          </a:prstGeom>
          <a:noFill/>
        </p:spPr>
        <p:txBody>
          <a:bodyPr wrap="square">
            <a:spAutoFit/>
          </a:bodyPr>
          <a:lstStyle/>
          <a:p>
            <a:pPr>
              <a:defRPr b="1" sz="1150">
                <a:solidFill>
                  <a:srgbClr val="C57A11"/>
                </a:solidFill>
              </a:defRPr>
            </a:pPr>
            <a:r>
              <a:t>Medium</a:t>
            </a:r>
          </a:p>
        </p:txBody>
      </p:sp>
      <p:sp>
        <p:nvSpPr>
          <p:cNvPr id="13" name="TextBox 12"/>
          <p:cNvSpPr txBox="1"/>
          <p:nvPr/>
        </p:nvSpPr>
        <p:spPr>
          <a:xfrm>
            <a:off x="5349240" y="2057400"/>
            <a:ext cx="2926080" cy="731520"/>
          </a:xfrm>
          <a:prstGeom prst="rect">
            <a:avLst/>
          </a:prstGeom>
          <a:noFill/>
        </p:spPr>
        <p:txBody>
          <a:bodyPr wrap="square">
            <a:spAutoFit/>
          </a:bodyPr>
          <a:lstStyle/>
          <a:p>
            <a:pPr>
              <a:defRPr sz="1100">
                <a:solidFill>
                  <a:srgbClr val="4B5160"/>
                </a:solidFill>
              </a:defRPr>
            </a:pPr>
            <a:r>
              <a:t>OTP verification confirms SIM ownership. Reviews prevent rapid bulk edits.</a:t>
            </a:r>
          </a:p>
        </p:txBody>
      </p:sp>
      <p:sp>
        <p:nvSpPr>
          <p:cNvPr id="14" name="TextBox 13"/>
          <p:cNvSpPr txBox="1"/>
          <p:nvPr/>
        </p:nvSpPr>
        <p:spPr>
          <a:xfrm>
            <a:off x="8458200" y="2057400"/>
            <a:ext cx="2926080" cy="731520"/>
          </a:xfrm>
          <a:prstGeom prst="rect">
            <a:avLst/>
          </a:prstGeom>
          <a:noFill/>
        </p:spPr>
        <p:txBody>
          <a:bodyPr wrap="square">
            <a:spAutoFit/>
          </a:bodyPr>
          <a:lstStyle/>
          <a:p>
            <a:pPr>
              <a:defRPr sz="1100" b="1">
                <a:solidFill>
                  <a:srgbClr val="111318"/>
                </a:solidFill>
              </a:defRPr>
            </a:pPr>
            <a:r>
              <a:t>Friction slows down turnaround times</a:t>
            </a:r>
          </a:p>
        </p:txBody>
      </p:sp>
      <p:sp>
        <p:nvSpPr>
          <p:cNvPr id="15" name="Rounded Rectangle 14"/>
          <p:cNvSpPr/>
          <p:nvPr/>
        </p:nvSpPr>
        <p:spPr>
          <a:xfrm>
            <a:off x="731520" y="2834640"/>
            <a:ext cx="10725912" cy="749808"/>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880360"/>
            <a:ext cx="2103120" cy="731520"/>
          </a:xfrm>
          <a:prstGeom prst="rect">
            <a:avLst/>
          </a:prstGeom>
          <a:noFill/>
        </p:spPr>
        <p:txBody>
          <a:bodyPr wrap="square">
            <a:spAutoFit/>
          </a:bodyPr>
          <a:lstStyle/>
          <a:p>
            <a:pPr>
              <a:defRPr b="1" sz="1150">
                <a:solidFill>
                  <a:srgbClr val="111318"/>
                </a:solidFill>
              </a:defRPr>
            </a:pPr>
            <a:r>
              <a:t>Spam Directory Degradation</a:t>
            </a:r>
          </a:p>
        </p:txBody>
      </p:sp>
      <p:sp>
        <p:nvSpPr>
          <p:cNvPr id="17" name="TextBox 16"/>
          <p:cNvSpPr txBox="1"/>
          <p:nvPr/>
        </p:nvSpPr>
        <p:spPr>
          <a:xfrm>
            <a:off x="2926080" y="2880360"/>
            <a:ext cx="1097280" cy="731520"/>
          </a:xfrm>
          <a:prstGeom prst="rect">
            <a:avLst/>
          </a:prstGeom>
          <a:noFill/>
        </p:spPr>
        <p:txBody>
          <a:bodyPr wrap="square">
            <a:spAutoFit/>
          </a:bodyPr>
          <a:lstStyle/>
          <a:p>
            <a:pPr>
              <a:defRPr b="1" sz="1150">
                <a:solidFill>
                  <a:srgbClr val="D33B3B"/>
                </a:solidFill>
              </a:defRPr>
            </a:pPr>
            <a:r>
              <a:t>High</a:t>
            </a:r>
          </a:p>
        </p:txBody>
      </p:sp>
      <p:sp>
        <p:nvSpPr>
          <p:cNvPr id="18" name="TextBox 17"/>
          <p:cNvSpPr txBox="1"/>
          <p:nvPr/>
        </p:nvSpPr>
        <p:spPr>
          <a:xfrm>
            <a:off x="4114800" y="2880360"/>
            <a:ext cx="1097280" cy="731520"/>
          </a:xfrm>
          <a:prstGeom prst="rect">
            <a:avLst/>
          </a:prstGeom>
          <a:noFill/>
        </p:spPr>
        <p:txBody>
          <a:bodyPr wrap="square">
            <a:spAutoFit/>
          </a:bodyPr>
          <a:lstStyle/>
          <a:p>
            <a:pPr>
              <a:defRPr b="1" sz="1150">
                <a:solidFill>
                  <a:srgbClr val="4B5160"/>
                </a:solidFill>
              </a:defRPr>
            </a:pPr>
            <a:r>
              <a:t>Low</a:t>
            </a:r>
          </a:p>
        </p:txBody>
      </p:sp>
      <p:sp>
        <p:nvSpPr>
          <p:cNvPr id="19" name="TextBox 18"/>
          <p:cNvSpPr txBox="1"/>
          <p:nvPr/>
        </p:nvSpPr>
        <p:spPr>
          <a:xfrm>
            <a:off x="5349240" y="2880360"/>
            <a:ext cx="2926080" cy="731520"/>
          </a:xfrm>
          <a:prstGeom prst="rect">
            <a:avLst/>
          </a:prstGeom>
          <a:noFill/>
        </p:spPr>
        <p:txBody>
          <a:bodyPr wrap="square">
            <a:spAutoFit/>
          </a:bodyPr>
          <a:lstStyle/>
          <a:p>
            <a:pPr>
              <a:defRPr sz="1100">
                <a:solidFill>
                  <a:srgbClr val="4B5160"/>
                </a:solidFill>
              </a:defRPr>
            </a:pPr>
            <a:r>
              <a:t>Erase requests hide displayName listings, but preserve underlying spam signals.</a:t>
            </a:r>
          </a:p>
        </p:txBody>
      </p:sp>
      <p:sp>
        <p:nvSpPr>
          <p:cNvPr id="20" name="TextBox 19"/>
          <p:cNvSpPr txBox="1"/>
          <p:nvPr/>
        </p:nvSpPr>
        <p:spPr>
          <a:xfrm>
            <a:off x="8458200" y="2880360"/>
            <a:ext cx="2926080" cy="731520"/>
          </a:xfrm>
          <a:prstGeom prst="rect">
            <a:avLst/>
          </a:prstGeom>
          <a:noFill/>
        </p:spPr>
        <p:txBody>
          <a:bodyPr wrap="square">
            <a:spAutoFit/>
          </a:bodyPr>
          <a:lstStyle/>
          <a:p>
            <a:pPr>
              <a:defRPr sz="1100" b="1">
                <a:solidFill>
                  <a:srgbClr val="111318"/>
                </a:solidFill>
              </a:defRPr>
            </a:pPr>
            <a:r>
              <a:t>Reduced contact metadata on unlistings</a:t>
            </a:r>
          </a:p>
        </p:txBody>
      </p:sp>
      <p:sp>
        <p:nvSpPr>
          <p:cNvPr id="21" name="Rounded Rectangle 20"/>
          <p:cNvSpPr/>
          <p:nvPr/>
        </p:nvSpPr>
        <p:spPr>
          <a:xfrm>
            <a:off x="731520" y="3657600"/>
            <a:ext cx="10725912" cy="749808"/>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703320"/>
            <a:ext cx="2103120" cy="731520"/>
          </a:xfrm>
          <a:prstGeom prst="rect">
            <a:avLst/>
          </a:prstGeom>
          <a:noFill/>
        </p:spPr>
        <p:txBody>
          <a:bodyPr wrap="square">
            <a:spAutoFit/>
          </a:bodyPr>
          <a:lstStyle/>
          <a:p>
            <a:pPr>
              <a:defRPr b="1" sz="1150">
                <a:solidFill>
                  <a:srgbClr val="111318"/>
                </a:solidFill>
              </a:defRPr>
            </a:pPr>
            <a:r>
              <a:t>OTP Onboarding Friction</a:t>
            </a:r>
          </a:p>
        </p:txBody>
      </p:sp>
      <p:sp>
        <p:nvSpPr>
          <p:cNvPr id="23" name="TextBox 22"/>
          <p:cNvSpPr txBox="1"/>
          <p:nvPr/>
        </p:nvSpPr>
        <p:spPr>
          <a:xfrm>
            <a:off x="2926080" y="3703320"/>
            <a:ext cx="1097280" cy="731520"/>
          </a:xfrm>
          <a:prstGeom prst="rect">
            <a:avLst/>
          </a:prstGeom>
          <a:noFill/>
        </p:spPr>
        <p:txBody>
          <a:bodyPr wrap="square">
            <a:spAutoFit/>
          </a:bodyPr>
          <a:lstStyle/>
          <a:p>
            <a:pPr>
              <a:defRPr b="1" sz="1150">
                <a:solidFill>
                  <a:srgbClr val="C57A11"/>
                </a:solidFill>
              </a:defRPr>
            </a:pPr>
            <a:r>
              <a:t>Medium</a:t>
            </a:r>
          </a:p>
        </p:txBody>
      </p:sp>
      <p:sp>
        <p:nvSpPr>
          <p:cNvPr id="24" name="TextBox 23"/>
          <p:cNvSpPr txBox="1"/>
          <p:nvPr/>
        </p:nvSpPr>
        <p:spPr>
          <a:xfrm>
            <a:off x="4114800" y="3703320"/>
            <a:ext cx="1097280" cy="731520"/>
          </a:xfrm>
          <a:prstGeom prst="rect">
            <a:avLst/>
          </a:prstGeom>
          <a:noFill/>
        </p:spPr>
        <p:txBody>
          <a:bodyPr wrap="square">
            <a:spAutoFit/>
          </a:bodyPr>
          <a:lstStyle/>
          <a:p>
            <a:pPr>
              <a:defRPr b="1" sz="1150">
                <a:solidFill>
                  <a:srgbClr val="D33B3B"/>
                </a:solidFill>
              </a:defRPr>
            </a:pPr>
            <a:r>
              <a:t>High</a:t>
            </a:r>
          </a:p>
        </p:txBody>
      </p:sp>
      <p:sp>
        <p:nvSpPr>
          <p:cNvPr id="25" name="TextBox 24"/>
          <p:cNvSpPr txBox="1"/>
          <p:nvPr/>
        </p:nvSpPr>
        <p:spPr>
          <a:xfrm>
            <a:off x="5349240" y="3703320"/>
            <a:ext cx="2926080" cy="731520"/>
          </a:xfrm>
          <a:prstGeom prst="rect">
            <a:avLst/>
          </a:prstGeom>
          <a:noFill/>
        </p:spPr>
        <p:txBody>
          <a:bodyPr wrap="square">
            <a:spAutoFit/>
          </a:bodyPr>
          <a:lstStyle/>
          <a:p>
            <a:pPr>
              <a:defRPr sz="1100">
                <a:solidFill>
                  <a:srgbClr val="4B5160"/>
                </a:solidFill>
              </a:defRPr>
            </a:pPr>
            <a:r>
              <a:t>Trust intro cards explain verification rationale before prompting phone entries.</a:t>
            </a:r>
          </a:p>
        </p:txBody>
      </p:sp>
      <p:sp>
        <p:nvSpPr>
          <p:cNvPr id="26" name="TextBox 25"/>
          <p:cNvSpPr txBox="1"/>
          <p:nvPr/>
        </p:nvSpPr>
        <p:spPr>
          <a:xfrm>
            <a:off x="8458200" y="3703320"/>
            <a:ext cx="2926080" cy="731520"/>
          </a:xfrm>
          <a:prstGeom prst="rect">
            <a:avLst/>
          </a:prstGeom>
          <a:noFill/>
        </p:spPr>
        <p:txBody>
          <a:bodyPr wrap="square">
            <a:spAutoFit/>
          </a:bodyPr>
          <a:lstStyle/>
          <a:p>
            <a:pPr>
              <a:defRPr sz="1100" b="1">
                <a:solidFill>
                  <a:srgbClr val="111318"/>
                </a:solidFill>
              </a:defRPr>
            </a:pPr>
            <a:r>
              <a:t>Minor drop-off accepted for security check</a:t>
            </a:r>
          </a:p>
        </p:txBody>
      </p:sp>
      <p:sp>
        <p:nvSpPr>
          <p:cNvPr id="27" name="Rounded Rectangle 26"/>
          <p:cNvSpPr/>
          <p:nvPr/>
        </p:nvSpPr>
        <p:spPr>
          <a:xfrm>
            <a:off x="731520" y="4480560"/>
            <a:ext cx="10725912" cy="749808"/>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526280"/>
            <a:ext cx="2103120" cy="731520"/>
          </a:xfrm>
          <a:prstGeom prst="rect">
            <a:avLst/>
          </a:prstGeom>
          <a:noFill/>
        </p:spPr>
        <p:txBody>
          <a:bodyPr wrap="square">
            <a:spAutoFit/>
          </a:bodyPr>
          <a:lstStyle/>
          <a:p>
            <a:pPr>
              <a:defRPr b="1" sz="1150">
                <a:solidFill>
                  <a:srgbClr val="111318"/>
                </a:solidFill>
              </a:defRPr>
            </a:pPr>
            <a:r>
              <a:t>Manual Review Staffing cost</a:t>
            </a:r>
          </a:p>
        </p:txBody>
      </p:sp>
      <p:sp>
        <p:nvSpPr>
          <p:cNvPr id="29" name="TextBox 28"/>
          <p:cNvSpPr txBox="1"/>
          <p:nvPr/>
        </p:nvSpPr>
        <p:spPr>
          <a:xfrm>
            <a:off x="2926080" y="4526280"/>
            <a:ext cx="1097280" cy="731520"/>
          </a:xfrm>
          <a:prstGeom prst="rect">
            <a:avLst/>
          </a:prstGeom>
          <a:noFill/>
        </p:spPr>
        <p:txBody>
          <a:bodyPr wrap="square">
            <a:spAutoFit/>
          </a:bodyPr>
          <a:lstStyle/>
          <a:p>
            <a:pPr>
              <a:defRPr b="1" sz="1150">
                <a:solidFill>
                  <a:srgbClr val="C57A11"/>
                </a:solidFill>
              </a:defRPr>
            </a:pPr>
            <a:r>
              <a:t>Medium</a:t>
            </a:r>
          </a:p>
        </p:txBody>
      </p:sp>
      <p:sp>
        <p:nvSpPr>
          <p:cNvPr id="30" name="TextBox 29"/>
          <p:cNvSpPr txBox="1"/>
          <p:nvPr/>
        </p:nvSpPr>
        <p:spPr>
          <a:xfrm>
            <a:off x="4114800" y="4526280"/>
            <a:ext cx="1097280" cy="731520"/>
          </a:xfrm>
          <a:prstGeom prst="rect">
            <a:avLst/>
          </a:prstGeom>
          <a:noFill/>
        </p:spPr>
        <p:txBody>
          <a:bodyPr wrap="square">
            <a:spAutoFit/>
          </a:bodyPr>
          <a:lstStyle/>
          <a:p>
            <a:pPr>
              <a:defRPr b="1" sz="1150">
                <a:solidFill>
                  <a:srgbClr val="D33B3B"/>
                </a:solidFill>
              </a:defRPr>
            </a:pPr>
            <a:r>
              <a:t>High</a:t>
            </a:r>
          </a:p>
        </p:txBody>
      </p:sp>
      <p:sp>
        <p:nvSpPr>
          <p:cNvPr id="31" name="TextBox 30"/>
          <p:cNvSpPr txBox="1"/>
          <p:nvPr/>
        </p:nvSpPr>
        <p:spPr>
          <a:xfrm>
            <a:off x="5349240" y="4526280"/>
            <a:ext cx="2926080" cy="731520"/>
          </a:xfrm>
          <a:prstGeom prst="rect">
            <a:avLst/>
          </a:prstGeom>
          <a:noFill/>
        </p:spPr>
        <p:txBody>
          <a:bodyPr wrap="square">
            <a:spAutoFit/>
          </a:bodyPr>
          <a:lstStyle/>
          <a:p>
            <a:pPr>
              <a:defRPr sz="1100">
                <a:solidFill>
                  <a:srgbClr val="4B5160"/>
                </a:solidFill>
              </a:defRPr>
            </a:pPr>
            <a:r>
              <a:t>Trigger filters isolate low-risk updates for instant approval (future scope).</a:t>
            </a:r>
          </a:p>
        </p:txBody>
      </p:sp>
      <p:sp>
        <p:nvSpPr>
          <p:cNvPr id="32" name="TextBox 31"/>
          <p:cNvSpPr txBox="1"/>
          <p:nvPr/>
        </p:nvSpPr>
        <p:spPr>
          <a:xfrm>
            <a:off x="8458200" y="4526280"/>
            <a:ext cx="2926080" cy="731520"/>
          </a:xfrm>
          <a:prstGeom prst="rect">
            <a:avLst/>
          </a:prstGeom>
          <a:noFill/>
        </p:spPr>
        <p:txBody>
          <a:bodyPr wrap="square">
            <a:spAutoFit/>
          </a:bodyPr>
          <a:lstStyle/>
          <a:p>
            <a:pPr>
              <a:defRPr sz="1100" b="1">
                <a:solidFill>
                  <a:srgbClr val="111318"/>
                </a:solidFill>
              </a:defRPr>
            </a:pPr>
            <a:r>
              <a:t>Higher operational cost for trust reviews</a:t>
            </a:r>
          </a:p>
        </p:txBody>
      </p:sp>
      <p:sp>
        <p:nvSpPr>
          <p:cNvPr id="33" name="Rounded Rectangle 32"/>
          <p:cNvSpPr/>
          <p:nvPr/>
        </p:nvSpPr>
        <p:spPr>
          <a:xfrm>
            <a:off x="731520" y="5303520"/>
            <a:ext cx="10725912" cy="749808"/>
          </a:xfrm>
          <a:prstGeom prst="round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349240"/>
            <a:ext cx="2103120" cy="731520"/>
          </a:xfrm>
          <a:prstGeom prst="rect">
            <a:avLst/>
          </a:prstGeom>
          <a:noFill/>
        </p:spPr>
        <p:txBody>
          <a:bodyPr wrap="square">
            <a:spAutoFit/>
          </a:bodyPr>
          <a:lstStyle/>
          <a:p>
            <a:pPr>
              <a:defRPr b="1" sz="1150">
                <a:solidFill>
                  <a:srgbClr val="111318"/>
                </a:solidFill>
              </a:defRPr>
            </a:pPr>
            <a:r>
              <a:t>Data Provenance Leaks</a:t>
            </a:r>
          </a:p>
        </p:txBody>
      </p:sp>
      <p:sp>
        <p:nvSpPr>
          <p:cNvPr id="35" name="TextBox 34"/>
          <p:cNvSpPr txBox="1"/>
          <p:nvPr/>
        </p:nvSpPr>
        <p:spPr>
          <a:xfrm>
            <a:off x="2926080" y="5349240"/>
            <a:ext cx="1097280" cy="731520"/>
          </a:xfrm>
          <a:prstGeom prst="rect">
            <a:avLst/>
          </a:prstGeom>
          <a:noFill/>
        </p:spPr>
        <p:txBody>
          <a:bodyPr wrap="square">
            <a:spAutoFit/>
          </a:bodyPr>
          <a:lstStyle/>
          <a:p>
            <a:pPr>
              <a:defRPr b="1" sz="1150">
                <a:solidFill>
                  <a:srgbClr val="D33B3B"/>
                </a:solidFill>
              </a:defRPr>
            </a:pPr>
            <a:r>
              <a:t>High</a:t>
            </a:r>
          </a:p>
        </p:txBody>
      </p:sp>
      <p:sp>
        <p:nvSpPr>
          <p:cNvPr id="36" name="TextBox 35"/>
          <p:cNvSpPr txBox="1"/>
          <p:nvPr/>
        </p:nvSpPr>
        <p:spPr>
          <a:xfrm>
            <a:off x="4114800" y="5349240"/>
            <a:ext cx="1097280" cy="731520"/>
          </a:xfrm>
          <a:prstGeom prst="rect">
            <a:avLst/>
          </a:prstGeom>
          <a:noFill/>
        </p:spPr>
        <p:txBody>
          <a:bodyPr wrap="square">
            <a:spAutoFit/>
          </a:bodyPr>
          <a:lstStyle/>
          <a:p>
            <a:pPr>
              <a:defRPr b="1" sz="1150">
                <a:solidFill>
                  <a:srgbClr val="4B5160"/>
                </a:solidFill>
              </a:defRPr>
            </a:pPr>
            <a:r>
              <a:t>Low</a:t>
            </a:r>
          </a:p>
        </p:txBody>
      </p:sp>
      <p:sp>
        <p:nvSpPr>
          <p:cNvPr id="37" name="TextBox 36"/>
          <p:cNvSpPr txBox="1"/>
          <p:nvPr/>
        </p:nvSpPr>
        <p:spPr>
          <a:xfrm>
            <a:off x="5349240" y="5349240"/>
            <a:ext cx="2926080" cy="731520"/>
          </a:xfrm>
          <a:prstGeom prst="rect">
            <a:avLst/>
          </a:prstGeom>
          <a:noFill/>
        </p:spPr>
        <p:txBody>
          <a:bodyPr wrap="square">
            <a:spAutoFit/>
          </a:bodyPr>
          <a:lstStyle/>
          <a:p>
            <a:pPr>
              <a:defRPr sz="1100">
                <a:solidFill>
                  <a:srgbClr val="4B5160"/>
                </a:solidFill>
              </a:defRPr>
            </a:pPr>
            <a:r>
              <a:t>Show aggregated contact listing counts only, protecting uploader identities.</a:t>
            </a:r>
          </a:p>
        </p:txBody>
      </p:sp>
      <p:sp>
        <p:nvSpPr>
          <p:cNvPr id="38" name="TextBox 37"/>
          <p:cNvSpPr txBox="1"/>
          <p:nvPr/>
        </p:nvSpPr>
        <p:spPr>
          <a:xfrm>
            <a:off x="8458200" y="5349240"/>
            <a:ext cx="2926080" cy="731520"/>
          </a:xfrm>
          <a:prstGeom prst="rect">
            <a:avLst/>
          </a:prstGeom>
          <a:noFill/>
        </p:spPr>
        <p:txBody>
          <a:bodyPr wrap="square">
            <a:spAutoFit/>
          </a:bodyPr>
          <a:lstStyle/>
          <a:p>
            <a:pPr>
              <a:defRPr sz="1100" b="1">
                <a:solidFill>
                  <a:srgbClr val="111318"/>
                </a:solidFill>
              </a:defRPr>
            </a:pPr>
            <a:r>
              <a:t>Anonymity limits direct listing disputes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